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89" r:id="rId4"/>
    <p:sldId id="258" r:id="rId5"/>
    <p:sldId id="259" r:id="rId6"/>
    <p:sldId id="260" r:id="rId7"/>
    <p:sldId id="294" r:id="rId8"/>
    <p:sldId id="261" r:id="rId9"/>
    <p:sldId id="290" r:id="rId10"/>
    <p:sldId id="262" r:id="rId11"/>
    <p:sldId id="295" r:id="rId12"/>
    <p:sldId id="296" r:id="rId13"/>
    <p:sldId id="291" r:id="rId14"/>
    <p:sldId id="297" r:id="rId15"/>
    <p:sldId id="292" r:id="rId16"/>
    <p:sldId id="293" r:id="rId17"/>
    <p:sldId id="299" r:id="rId18"/>
    <p:sldId id="298" r:id="rId19"/>
    <p:sldId id="300" r:id="rId20"/>
    <p:sldId id="263" r:id="rId21"/>
    <p:sldId id="264" r:id="rId22"/>
    <p:sldId id="301" r:id="rId23"/>
    <p:sldId id="302" r:id="rId24"/>
    <p:sldId id="303" r:id="rId25"/>
    <p:sldId id="304" r:id="rId26"/>
    <p:sldId id="266" r:id="rId27"/>
    <p:sldId id="305" r:id="rId28"/>
    <p:sldId id="306" r:id="rId29"/>
    <p:sldId id="307" r:id="rId30"/>
    <p:sldId id="308" r:id="rId31"/>
    <p:sldId id="309" r:id="rId32"/>
    <p:sldId id="267" r:id="rId33"/>
    <p:sldId id="268" r:id="rId34"/>
    <p:sldId id="269" r:id="rId35"/>
    <p:sldId id="270" r:id="rId36"/>
    <p:sldId id="271" r:id="rId37"/>
    <p:sldId id="272" r:id="rId38"/>
    <p:sldId id="273" r:id="rId39"/>
    <p:sldId id="274" r:id="rId40"/>
    <p:sldId id="275" r:id="rId41"/>
    <p:sldId id="276" r:id="rId42"/>
    <p:sldId id="277" r:id="rId43"/>
    <p:sldId id="278" r:id="rId44"/>
    <p:sldId id="279" r:id="rId45"/>
    <p:sldId id="280" r:id="rId46"/>
    <p:sldId id="281" r:id="rId47"/>
    <p:sldId id="282" r:id="rId48"/>
    <p:sldId id="283" r:id="rId49"/>
    <p:sldId id="284" r:id="rId50"/>
    <p:sldId id="285" r:id="rId51"/>
    <p:sldId id="286" r:id="rId52"/>
    <p:sldId id="287" r:id="rId53"/>
    <p:sldId id="288" r:id="rId54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18" d="100"/>
          <a:sy n="118" d="100"/>
        </p:scale>
        <p:origin x="610" y="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tableStyles" Target="tableStyles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viewProps" Target="view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theme" Target="theme/theme1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AEAE1B6-CBF1-72E6-E285-8F2439C936A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  <a:endParaRPr lang="fr-BE"/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8DCAA810-B9F5-5BFD-1B74-BDB9649C087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  <a:endParaRPr lang="fr-BE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9432AF9D-3B41-3C32-282E-AF0F9BB483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82A682-DD39-4819-89F0-642635859CB9}" type="datetimeFigureOut">
              <a:rPr lang="fr-BE" smtClean="0"/>
              <a:t>19-11-25</a:t>
            </a:fld>
            <a:endParaRPr lang="fr-BE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B9DD6C61-831E-8DBF-FB5E-8E9FB0DB5D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1428817E-A4D2-CF8F-5119-781CDD6C06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AD605B-1046-4E75-8775-AC3AA41BE90B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358583405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CAAC83E-24DF-3D10-6420-B54ED7457E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BE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9D03AAE8-2C18-D6AB-DE26-18609B62EDF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BE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BDD0AF56-9294-9A3B-21F9-2F4F5F1291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82A682-DD39-4819-89F0-642635859CB9}" type="datetimeFigureOut">
              <a:rPr lang="fr-BE" smtClean="0"/>
              <a:t>19-11-25</a:t>
            </a:fld>
            <a:endParaRPr lang="fr-BE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FBB99F12-BC99-B5E1-2D5F-6320CDBF97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D41C633F-C1FA-6879-080B-5599FEC660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AD605B-1046-4E75-8775-AC3AA41BE90B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255082991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44DC908-9ECD-4221-FB80-DBA18FC023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  <a:endParaRPr lang="fr-BE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8A0FDE2F-128F-30F1-E0C2-725851718C2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3AD804DA-3257-85B0-7F9C-1581E4121D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82A682-DD39-4819-89F0-642635859CB9}" type="datetimeFigureOut">
              <a:rPr lang="fr-BE" smtClean="0"/>
              <a:t>19-11-25</a:t>
            </a:fld>
            <a:endParaRPr lang="fr-BE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C863428A-5E9E-989B-4594-E0A20AE70C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60BADA1A-C5F4-1304-2487-889702CD7A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AD605B-1046-4E75-8775-AC3AA41BE90B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156794731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AB9945F-724D-08B2-1044-AEDEAC2AC0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BE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E6759D58-87F2-6B01-C0CA-2A6E8857246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BE"/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5A2C92C4-BDEC-11E5-2A58-6D514066CFC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BE"/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7F5A4EFE-B8E0-528F-629E-500BCEC87B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82A682-DD39-4819-89F0-642635859CB9}" type="datetimeFigureOut">
              <a:rPr lang="fr-BE" smtClean="0"/>
              <a:t>19-11-25</a:t>
            </a:fld>
            <a:endParaRPr lang="fr-BE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A5183479-5165-FE85-B611-33FC964F9F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D896A768-ADC2-74C0-AD29-A50A3B120D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AD605B-1046-4E75-8775-AC3AA41BE90B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200664491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0FA2124-AD99-2364-FCD4-41431E2C9D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fr-BE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9A9935FE-1740-24FA-8C3A-BE9E64D0712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F7514B83-135E-C8E6-7F9A-441121249D2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BE"/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1287E2CC-90D7-A955-5466-E2C12856766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698C4AD8-D1AC-954F-02FD-30F5EFBA244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BE"/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57AE25E1-F75B-A0C1-0AC8-0830F8FBAF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82A682-DD39-4819-89F0-642635859CB9}" type="datetimeFigureOut">
              <a:rPr lang="fr-BE" smtClean="0"/>
              <a:t>19-11-25</a:t>
            </a:fld>
            <a:endParaRPr lang="fr-BE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97CD9D6C-CA1D-8F5B-DB57-DA97DA285D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D75DE735-8304-DAAB-BB15-3C8342B83F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AD605B-1046-4E75-8775-AC3AA41BE90B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39262147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3B18717-2F4D-8C09-F532-091BA7BB37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BE"/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8FA731D7-858F-2353-5739-371D68CED8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82A682-DD39-4819-89F0-642635859CB9}" type="datetimeFigureOut">
              <a:rPr lang="fr-BE" smtClean="0"/>
              <a:t>19-11-25</a:t>
            </a:fld>
            <a:endParaRPr lang="fr-BE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EF3841FC-0FC1-23D4-1F2B-F873F52D6B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CB9BAE45-801A-C820-EC5F-AF70B9DA9D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AD605B-1046-4E75-8775-AC3AA41BE90B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334676368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93A8E9BE-0A60-FAE4-7149-34D219DA97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82A682-DD39-4819-89F0-642635859CB9}" type="datetimeFigureOut">
              <a:rPr lang="fr-BE" smtClean="0"/>
              <a:t>19-11-25</a:t>
            </a:fld>
            <a:endParaRPr lang="fr-BE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9D6FF1AD-11BF-1241-6A2A-69AD3F85A6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036E50A6-186C-F7EA-A560-CBDD268287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AD605B-1046-4E75-8775-AC3AA41BE90B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335703786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E981491-8BFB-F859-555D-E9C63693A1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  <a:endParaRPr lang="fr-BE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E176469B-66C7-1918-0B48-245DE298451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BE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FECDB127-7156-E509-90F0-025706AF973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FA1B4D9C-7BAF-C028-8CC9-F9685A55C4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82A682-DD39-4819-89F0-642635859CB9}" type="datetimeFigureOut">
              <a:rPr lang="fr-BE" smtClean="0"/>
              <a:t>19-11-25</a:t>
            </a:fld>
            <a:endParaRPr lang="fr-BE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DF805585-FB5A-0732-3DA8-49EE94F0BA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E6072847-2B36-3714-D08E-48EFDFEF82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AD605B-1046-4E75-8775-AC3AA41BE90B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1306643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591F788-53A2-9D47-A3D5-929A3CF50D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  <a:endParaRPr lang="fr-BE"/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4F39B037-53E0-7759-6FA7-591FF7554D1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BE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324EC552-F7EB-5CFF-8F73-D1AED30EE3F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F71070A7-4CEA-A578-3A62-E2CC3E3C18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82A682-DD39-4819-89F0-642635859CB9}" type="datetimeFigureOut">
              <a:rPr lang="fr-BE" smtClean="0"/>
              <a:t>19-11-25</a:t>
            </a:fld>
            <a:endParaRPr lang="fr-BE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CBC28D09-F369-6B81-00EE-D02BB97A00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25222FB6-860B-FF9B-D232-788EAC9659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AD605B-1046-4E75-8775-AC3AA41BE90B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385822028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92F78EF-C8F8-0D72-B612-D215964437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BE"/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A7DE98E6-FCBD-8191-046C-2F57748CB88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BE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923204BD-9B30-1645-5115-D212AB0DA0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82A682-DD39-4819-89F0-642635859CB9}" type="datetimeFigureOut">
              <a:rPr lang="fr-BE" smtClean="0"/>
              <a:t>19-11-25</a:t>
            </a:fld>
            <a:endParaRPr lang="fr-BE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0E9A39E9-BF28-C4D5-5E49-3E0ED3AE4A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9F490993-6793-102C-E8ED-A6CEEB36E7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AD605B-1046-4E75-8775-AC3AA41BE90B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375721511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3DA2C1B6-234C-00AE-F34F-FB99ABD4FF6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  <a:endParaRPr lang="fr-BE"/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49B556BF-04A5-CC8E-4545-40EB38DD87F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BE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54C2B640-3018-11E2-1C7B-C5262A8897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82A682-DD39-4819-89F0-642635859CB9}" type="datetimeFigureOut">
              <a:rPr lang="fr-BE" smtClean="0"/>
              <a:t>19-11-25</a:t>
            </a:fld>
            <a:endParaRPr lang="fr-BE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863FDA21-5313-4B3E-1E16-7CD0EF6B3D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AE2D21DB-6674-2E6C-B27A-0185A677A6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AD605B-1046-4E75-8775-AC3AA41BE90B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295891963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511C8A45-CA23-DD22-B695-D7143616A8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  <a:endParaRPr lang="fr-BE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C3C5A705-218D-A172-9002-F0A0AF20BEB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BE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179DE4ED-1897-2939-6A39-5ACF111D7CA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782A682-DD39-4819-89F0-642635859CB9}" type="datetimeFigureOut">
              <a:rPr lang="fr-BE" smtClean="0"/>
              <a:t>19-11-25</a:t>
            </a:fld>
            <a:endParaRPr lang="fr-BE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F6974111-0EE1-801D-3073-B6CCF9D4F44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BE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AEF8F5E6-A3DD-FFBC-5E97-A4AB8D01568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1AD605B-1046-4E75-8775-AC3AA41BE90B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337928735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hyperlink" Target="https://git-scm.com/book/fr/v2/D&#233;marrage-rapide-&#192;-propos-de-la-gestion-de-version" TargetMode="Externa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hyperlink" Target="https://survey.stackoverflow.co/2022/#version-control-version-control-system-prof" TargetMode="Externa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15D9817-AAD7-BA29-E49B-7408C5100E7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fr-BE"/>
              <a:t>Module 1 – Programmation web Frontend</a:t>
            </a:r>
            <a:endParaRPr lang="fr-BE" dirty="0"/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C3850D4C-AB8A-A34A-F5CF-E6E9CE8526C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409082105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C8AEC00-E3FB-38E3-2A52-F95BCA1301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/>
              <a:t>Planning</a:t>
            </a:r>
            <a:endParaRPr lang="fr-BE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246FD568-860B-6905-CD7B-EF0A605B0FE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47500" lnSpcReduction="20000"/>
          </a:bodyPr>
          <a:lstStyle/>
          <a:p>
            <a:pPr marL="0" indent="0">
              <a:buNone/>
            </a:pPr>
            <a:r>
              <a:rPr lang="fr-BE" dirty="0"/>
              <a:t>PWF</a:t>
            </a:r>
          </a:p>
          <a:p>
            <a:r>
              <a:rPr lang="fr-BE" dirty="0">
                <a:solidFill>
                  <a:schemeClr val="bg2">
                    <a:lumMod val="75000"/>
                  </a:schemeClr>
                </a:solidFill>
              </a:rPr>
              <a:t>04/10/25 – Chapitre 1. Introduction web – fonctionnement, vocabulaire, prise en main des outils et Introduction au langage HTML</a:t>
            </a:r>
          </a:p>
          <a:p>
            <a:r>
              <a:rPr lang="fr-BE" dirty="0">
                <a:solidFill>
                  <a:schemeClr val="bg2">
                    <a:lumMod val="75000"/>
                  </a:schemeClr>
                </a:solidFill>
              </a:rPr>
              <a:t>18/10/25 – Chapitre 2. Introduction web – HTML et CSS</a:t>
            </a:r>
          </a:p>
          <a:p>
            <a:r>
              <a:rPr lang="fr-BE" dirty="0">
                <a:solidFill>
                  <a:schemeClr val="bg2">
                    <a:lumMod val="75000"/>
                  </a:schemeClr>
                </a:solidFill>
              </a:rPr>
              <a:t>8/11/25 – Chapitre 3. Introduction web – Arborescence et Formulaire</a:t>
            </a:r>
          </a:p>
          <a:p>
            <a:r>
              <a:rPr lang="fr-BE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22/11/25 – Chapitre 4. Introduction Team Workflow - Git</a:t>
            </a:r>
          </a:p>
          <a:p>
            <a:r>
              <a:rPr lang="fr-BE" dirty="0"/>
              <a:t>06/12/25 – Chapitre 5. Introduction à Javascript, Variables et valeurs</a:t>
            </a:r>
          </a:p>
          <a:p>
            <a:r>
              <a:rPr lang="fr-BE" dirty="0"/>
              <a:t>10/01/26 – Chapitre 6. Javascript : Fonctions, tableaux, objets, prototypes et constructeurs</a:t>
            </a:r>
          </a:p>
          <a:p>
            <a:r>
              <a:rPr lang="fr-BE" dirty="0"/>
              <a:t>24/01/26 - Chapitre 7. Javascript : DOM et programmation évènementiel, expression régulière</a:t>
            </a:r>
          </a:p>
          <a:p>
            <a:r>
              <a:rPr lang="fr-BE" dirty="0"/>
              <a:t>07/02/26 - Chapitre 8. Javascript : Fonctions avancées et compléments</a:t>
            </a:r>
          </a:p>
          <a:p>
            <a:r>
              <a:rPr lang="fr-BE" dirty="0"/>
              <a:t>21/02/26 - Chapitre 9. Javascript : Framework (React.js, Angular.js et Vue.js)</a:t>
            </a:r>
          </a:p>
          <a:p>
            <a:r>
              <a:rPr lang="fr-BE" dirty="0"/>
              <a:t>14/03/26 - Examen</a:t>
            </a:r>
          </a:p>
          <a:p>
            <a:pPr marL="0" indent="0">
              <a:buNone/>
            </a:pPr>
            <a:r>
              <a:rPr lang="fr-BE" dirty="0"/>
              <a:t>PWB</a:t>
            </a:r>
          </a:p>
          <a:p>
            <a:r>
              <a:rPr lang="fr-BE" dirty="0"/>
              <a:t>28/03/26 –  Chapitre 1.</a:t>
            </a:r>
          </a:p>
          <a:p>
            <a:r>
              <a:rPr lang="fr-BE" dirty="0"/>
              <a:t>11/04/26 –  Chapitre 2.</a:t>
            </a:r>
          </a:p>
          <a:p>
            <a:r>
              <a:rPr lang="fr-BE" dirty="0"/>
              <a:t>25/04/26 –  Chapitre 3.</a:t>
            </a:r>
          </a:p>
          <a:p>
            <a:r>
              <a:rPr lang="fr-BE" dirty="0"/>
              <a:t>23/05/26 - Examen </a:t>
            </a:r>
          </a:p>
          <a:p>
            <a:pPr marL="0" indent="0">
              <a:buNone/>
            </a:pPr>
            <a:endParaRPr lang="fr-BE" dirty="0"/>
          </a:p>
        </p:txBody>
      </p:sp>
    </p:spTree>
    <p:extLst>
      <p:ext uri="{BB962C8B-B14F-4D97-AF65-F5344CB8AC3E}">
        <p14:creationId xmlns:p14="http://schemas.microsoft.com/office/powerpoint/2010/main" val="349455436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38A3A2A-029F-545F-3CF2-42DB433775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dirty="0"/>
              <a:t>Source 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3E5A6A6D-2B71-21EB-DCF7-995F4FD8F48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BE" dirty="0">
                <a:hlinkClick r:id="rId2"/>
              </a:rPr>
              <a:t>https://www.atlassian.com/fr/git/tutorials/setting-up-a-repository</a:t>
            </a:r>
          </a:p>
          <a:p>
            <a:r>
              <a:rPr lang="fr-BE" dirty="0">
                <a:hlinkClick r:id="rId2"/>
              </a:rPr>
              <a:t>https://git-scm.com/book/</a:t>
            </a:r>
            <a:r>
              <a:rPr lang="fr-BE" dirty="0" err="1">
                <a:hlinkClick r:id="rId2"/>
              </a:rPr>
              <a:t>fr</a:t>
            </a:r>
            <a:r>
              <a:rPr lang="fr-BE" dirty="0">
                <a:hlinkClick r:id="rId2"/>
              </a:rPr>
              <a:t>/v2/Démarrage-rapide-À-propos-de-la-gestion-de-version</a:t>
            </a:r>
            <a:r>
              <a:rPr lang="fr-BE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44238833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DB85159-528A-B0E6-095C-045A3B9A25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dirty="0"/>
              <a:t>Chapitre 4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8490FF0C-29BA-9BB3-40F3-CFE09211979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fr-BE" dirty="0"/>
              <a:t>1. Rappel</a:t>
            </a:r>
          </a:p>
          <a:p>
            <a:pPr lvl="1"/>
            <a:r>
              <a:rPr lang="fr-BE" dirty="0"/>
              <a:t>Arborescence</a:t>
            </a:r>
          </a:p>
          <a:p>
            <a:pPr lvl="2"/>
            <a:r>
              <a:rPr lang="fr-BE" dirty="0"/>
              <a:t>L’arborescence HTML et CSS</a:t>
            </a:r>
          </a:p>
          <a:p>
            <a:pPr lvl="2"/>
            <a:r>
              <a:rPr lang="fr-BE" dirty="0"/>
              <a:t>Sélecteurs basés sur l’arborescence et sur les attributs</a:t>
            </a:r>
          </a:p>
          <a:p>
            <a:pPr lvl="2"/>
            <a:r>
              <a:rPr lang="fr-BE" dirty="0"/>
              <a:t>Pseudo-classes et pseudo-éléments CSS</a:t>
            </a:r>
          </a:p>
          <a:p>
            <a:pPr lvl="1"/>
            <a:r>
              <a:rPr lang="fr-BE" dirty="0"/>
              <a:t>Formulaire</a:t>
            </a:r>
          </a:p>
          <a:p>
            <a:pPr lvl="2"/>
            <a:r>
              <a:rPr lang="fr-BE" dirty="0"/>
              <a:t>Qu’est-ce qu’un formulaire HTML</a:t>
            </a:r>
          </a:p>
          <a:p>
            <a:pPr lvl="2"/>
            <a:r>
              <a:rPr lang="fr-BE" dirty="0"/>
              <a:t>Les actions</a:t>
            </a:r>
          </a:p>
          <a:p>
            <a:pPr lvl="2"/>
            <a:r>
              <a:rPr lang="fr-BE" dirty="0"/>
              <a:t>Protocoles GET et POST</a:t>
            </a:r>
          </a:p>
          <a:p>
            <a:pPr lvl="2"/>
            <a:r>
              <a:rPr lang="fr-BE" dirty="0"/>
              <a:t>Le formulaire dans son ensemble</a:t>
            </a:r>
          </a:p>
          <a:p>
            <a:pPr lvl="2"/>
            <a:r>
              <a:rPr lang="fr-BE" dirty="0"/>
              <a:t>Eléments types d’un formulaire</a:t>
            </a:r>
          </a:p>
          <a:p>
            <a:pPr lvl="2"/>
            <a:r>
              <a:rPr lang="fr-BE" dirty="0"/>
              <a:t>CSS</a:t>
            </a:r>
          </a:p>
          <a:p>
            <a:pPr lvl="2"/>
            <a:r>
              <a:rPr lang="fr-BE" dirty="0"/>
              <a:t>Contraintes et validations HTML</a:t>
            </a:r>
          </a:p>
          <a:p>
            <a:pPr lvl="2"/>
            <a:r>
              <a:rPr lang="fr-BE" dirty="0"/>
              <a:t>Sélecteurs CSS relatifs à la validation</a:t>
            </a:r>
          </a:p>
        </p:txBody>
      </p:sp>
    </p:spTree>
    <p:extLst>
      <p:ext uri="{BB962C8B-B14F-4D97-AF65-F5344CB8AC3E}">
        <p14:creationId xmlns:p14="http://schemas.microsoft.com/office/powerpoint/2010/main" val="228457204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99BAE54-5F13-2073-8038-B8A1536BD2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dirty="0"/>
              <a:t>Chapitre 4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8F4261F9-A2AD-2BEE-E0B4-AD08A730191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fr-BE" dirty="0"/>
              <a:t>2. Contrôle de version - GIT</a:t>
            </a:r>
          </a:p>
          <a:p>
            <a:pPr lvl="1"/>
            <a:r>
              <a:rPr lang="fr-BE" dirty="0"/>
              <a:t>Système de contrôle de version centralisé (VCS)</a:t>
            </a:r>
          </a:p>
          <a:p>
            <a:pPr lvl="2"/>
            <a:r>
              <a:rPr lang="fr-BE" dirty="0"/>
              <a:t>Avantages</a:t>
            </a:r>
          </a:p>
          <a:p>
            <a:pPr lvl="2"/>
            <a:r>
              <a:rPr lang="fr-BE" dirty="0"/>
              <a:t>Inconvénients </a:t>
            </a:r>
          </a:p>
          <a:p>
            <a:pPr lvl="1"/>
            <a:r>
              <a:rPr lang="fr-BE" dirty="0"/>
              <a:t>GIT</a:t>
            </a:r>
          </a:p>
          <a:p>
            <a:pPr lvl="2"/>
            <a:r>
              <a:rPr lang="fr-BE" dirty="0"/>
              <a:t>Historique</a:t>
            </a:r>
          </a:p>
          <a:p>
            <a:pPr lvl="2"/>
            <a:r>
              <a:rPr lang="fr-BE" dirty="0"/>
              <a:t>Rudiments</a:t>
            </a:r>
          </a:p>
          <a:p>
            <a:pPr lvl="2"/>
            <a:r>
              <a:rPr lang="fr-BE" dirty="0"/>
              <a:t>Ligne de commande (trop cool)</a:t>
            </a:r>
          </a:p>
          <a:p>
            <a:pPr lvl="2"/>
            <a:endParaRPr lang="fr-BE" dirty="0"/>
          </a:p>
          <a:p>
            <a:pPr lvl="1"/>
            <a:r>
              <a:rPr lang="fr-BE" dirty="0"/>
              <a:t>Vocabulaire</a:t>
            </a:r>
          </a:p>
          <a:p>
            <a:pPr lvl="2"/>
            <a:r>
              <a:rPr lang="fr-BE" dirty="0"/>
              <a:t>Dépôt, init, </a:t>
            </a:r>
            <a:r>
              <a:rPr lang="fr-BE" dirty="0" err="1"/>
              <a:t>add</a:t>
            </a:r>
            <a:r>
              <a:rPr lang="fr-BE" dirty="0"/>
              <a:t>, </a:t>
            </a:r>
            <a:r>
              <a:rPr lang="fr-BE" dirty="0" err="1"/>
              <a:t>stash</a:t>
            </a:r>
            <a:r>
              <a:rPr lang="fr-BE" dirty="0"/>
              <a:t>,…</a:t>
            </a:r>
          </a:p>
          <a:p>
            <a:pPr lvl="1"/>
            <a:r>
              <a:rPr lang="fr-BE" dirty="0"/>
              <a:t>Les bases de GIT</a:t>
            </a:r>
          </a:p>
          <a:p>
            <a:pPr lvl="2"/>
            <a:r>
              <a:rPr lang="fr-BE" dirty="0"/>
              <a:t>Démarrer un dépôt</a:t>
            </a:r>
          </a:p>
          <a:p>
            <a:pPr lvl="2"/>
            <a:r>
              <a:rPr lang="fr-BE" dirty="0"/>
              <a:t>Visualiser l’historique</a:t>
            </a:r>
          </a:p>
          <a:p>
            <a:pPr lvl="2"/>
            <a:r>
              <a:rPr lang="fr-BE" dirty="0"/>
              <a:t>Annuler des actions</a:t>
            </a:r>
          </a:p>
          <a:p>
            <a:pPr lvl="2"/>
            <a:r>
              <a:rPr lang="fr-BE" dirty="0"/>
              <a:t>Dépôt distant</a:t>
            </a:r>
          </a:p>
          <a:p>
            <a:pPr lvl="2"/>
            <a:r>
              <a:rPr lang="fr-BE" dirty="0"/>
              <a:t>Etiquette (tag)</a:t>
            </a:r>
          </a:p>
          <a:p>
            <a:pPr lvl="2"/>
            <a:r>
              <a:rPr lang="fr-BE" dirty="0"/>
              <a:t>Alias</a:t>
            </a:r>
          </a:p>
          <a:p>
            <a:pPr lvl="1"/>
            <a:r>
              <a:rPr lang="fr-BE" dirty="0"/>
              <a:t>Les branches</a:t>
            </a:r>
          </a:p>
          <a:p>
            <a:pPr lvl="2"/>
            <a:endParaRPr lang="fr-BE" dirty="0"/>
          </a:p>
          <a:p>
            <a:pPr lvl="1"/>
            <a:endParaRPr lang="fr-BE" dirty="0"/>
          </a:p>
        </p:txBody>
      </p:sp>
    </p:spTree>
    <p:extLst>
      <p:ext uri="{BB962C8B-B14F-4D97-AF65-F5344CB8AC3E}">
        <p14:creationId xmlns:p14="http://schemas.microsoft.com/office/powerpoint/2010/main" val="124501495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EC83120-E586-2C23-841B-557F7717CE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dirty="0"/>
              <a:t>Chapitre 4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31AF6E91-3493-84AC-E718-6194EDAAA5A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fr-BE" dirty="0"/>
              <a:t>2. Contrôle de version - GIT</a:t>
            </a:r>
          </a:p>
          <a:p>
            <a:pPr lvl="1"/>
            <a:r>
              <a:rPr lang="fr-BE" dirty="0"/>
              <a:t>Le commit et son arbre</a:t>
            </a:r>
          </a:p>
          <a:p>
            <a:pPr lvl="1"/>
            <a:r>
              <a:rPr lang="fr-BE" dirty="0"/>
              <a:t>Les branches</a:t>
            </a:r>
          </a:p>
          <a:p>
            <a:pPr lvl="2"/>
            <a:r>
              <a:rPr lang="fr-BE" dirty="0"/>
              <a:t>Git </a:t>
            </a:r>
            <a:r>
              <a:rPr lang="fr-BE" dirty="0" err="1"/>
              <a:t>branch</a:t>
            </a:r>
            <a:endParaRPr lang="fr-BE" dirty="0"/>
          </a:p>
          <a:p>
            <a:pPr lvl="2"/>
            <a:r>
              <a:rPr lang="fr-BE" dirty="0"/>
              <a:t>Git </a:t>
            </a:r>
            <a:r>
              <a:rPr lang="fr-BE" dirty="0" err="1"/>
              <a:t>checkout</a:t>
            </a:r>
            <a:endParaRPr lang="fr-BE" dirty="0"/>
          </a:p>
          <a:p>
            <a:pPr lvl="2"/>
            <a:r>
              <a:rPr lang="fr-BE" dirty="0"/>
              <a:t>Git commit</a:t>
            </a:r>
          </a:p>
          <a:p>
            <a:pPr lvl="2"/>
            <a:r>
              <a:rPr lang="fr-BE" dirty="0"/>
              <a:t>Git log</a:t>
            </a:r>
          </a:p>
          <a:p>
            <a:pPr lvl="1"/>
            <a:r>
              <a:rPr lang="fr-BE" dirty="0"/>
              <a:t>Les branches et fusion</a:t>
            </a:r>
          </a:p>
          <a:p>
            <a:pPr lvl="2"/>
            <a:r>
              <a:rPr lang="fr-BE" dirty="0"/>
              <a:t>Git merge</a:t>
            </a:r>
          </a:p>
          <a:p>
            <a:pPr lvl="2"/>
            <a:r>
              <a:rPr lang="fr-BE" dirty="0"/>
              <a:t>Git </a:t>
            </a:r>
            <a:r>
              <a:rPr lang="fr-BE" dirty="0" err="1"/>
              <a:t>mergetool</a:t>
            </a:r>
            <a:r>
              <a:rPr lang="fr-BE" dirty="0"/>
              <a:t> / git </a:t>
            </a:r>
            <a:r>
              <a:rPr lang="fr-BE" dirty="0" err="1"/>
              <a:t>opendiff</a:t>
            </a:r>
            <a:endParaRPr lang="fr-BE" dirty="0"/>
          </a:p>
          <a:p>
            <a:pPr lvl="2"/>
            <a:r>
              <a:rPr lang="fr-BE" dirty="0"/>
              <a:t>Git push</a:t>
            </a:r>
          </a:p>
          <a:p>
            <a:pPr lvl="2"/>
            <a:r>
              <a:rPr lang="fr-BE" dirty="0"/>
              <a:t>Git </a:t>
            </a:r>
            <a:r>
              <a:rPr lang="fr-BE" dirty="0" err="1"/>
              <a:t>fetch</a:t>
            </a:r>
            <a:endParaRPr lang="fr-BE" dirty="0"/>
          </a:p>
          <a:p>
            <a:pPr lvl="2"/>
            <a:r>
              <a:rPr lang="fr-BE" dirty="0"/>
              <a:t>Git push</a:t>
            </a:r>
          </a:p>
          <a:p>
            <a:pPr lvl="2"/>
            <a:r>
              <a:rPr lang="fr-BE" dirty="0"/>
              <a:t>Git rebase</a:t>
            </a:r>
          </a:p>
          <a:p>
            <a:pPr lvl="1"/>
            <a:r>
              <a:rPr lang="fr-BE" dirty="0"/>
              <a:t>Les Protocoles</a:t>
            </a:r>
          </a:p>
          <a:p>
            <a:pPr lvl="2"/>
            <a:r>
              <a:rPr lang="fr-BE" dirty="0"/>
              <a:t>Local</a:t>
            </a:r>
          </a:p>
          <a:p>
            <a:pPr lvl="2"/>
            <a:r>
              <a:rPr lang="fr-BE" dirty="0"/>
              <a:t>http</a:t>
            </a:r>
          </a:p>
          <a:p>
            <a:pPr lvl="2"/>
            <a:r>
              <a:rPr lang="fr-BE" dirty="0"/>
              <a:t>SSH</a:t>
            </a:r>
          </a:p>
          <a:p>
            <a:pPr lvl="2"/>
            <a:r>
              <a:rPr lang="fr-BE" dirty="0"/>
              <a:t>Git</a:t>
            </a:r>
          </a:p>
        </p:txBody>
      </p:sp>
    </p:spTree>
    <p:extLst>
      <p:ext uri="{BB962C8B-B14F-4D97-AF65-F5344CB8AC3E}">
        <p14:creationId xmlns:p14="http://schemas.microsoft.com/office/powerpoint/2010/main" val="81200593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E8C5786-F1E2-781C-6C7D-E25F0324E1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Chapitre 4.</a:t>
            </a:r>
            <a:endParaRPr lang="fr-BE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698BFBC6-16DC-996B-8D36-DC4A7E42F21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BE" dirty="0"/>
              <a:t>2. Contrôle de version - GIT</a:t>
            </a:r>
            <a:endParaRPr lang="fr-FR" dirty="0"/>
          </a:p>
          <a:p>
            <a:pPr lvl="1"/>
            <a:r>
              <a:rPr lang="fr-FR" dirty="0"/>
              <a:t>Contribuer à un projet</a:t>
            </a:r>
          </a:p>
          <a:p>
            <a:pPr lvl="2"/>
            <a:r>
              <a:rPr lang="fr-FR" dirty="0"/>
              <a:t>Fork</a:t>
            </a:r>
          </a:p>
          <a:p>
            <a:pPr lvl="1"/>
            <a:endParaRPr lang="fr-BE" dirty="0"/>
          </a:p>
        </p:txBody>
      </p:sp>
    </p:spTree>
    <p:extLst>
      <p:ext uri="{BB962C8B-B14F-4D97-AF65-F5344CB8AC3E}">
        <p14:creationId xmlns:p14="http://schemas.microsoft.com/office/powerpoint/2010/main" val="291814391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FC2CCFF-AE22-CA79-193C-DAE79498DD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1. Rappel</a:t>
            </a:r>
            <a:endParaRPr lang="fr-BE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4B7C5DBB-8184-AB61-AFA9-B196819405B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Arborescence</a:t>
            </a:r>
            <a:endParaRPr lang="fr-BE" dirty="0"/>
          </a:p>
        </p:txBody>
      </p:sp>
    </p:spTree>
    <p:extLst>
      <p:ext uri="{BB962C8B-B14F-4D97-AF65-F5344CB8AC3E}">
        <p14:creationId xmlns:p14="http://schemas.microsoft.com/office/powerpoint/2010/main" val="159063443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BB1034-2F0F-4D6D-FC4A-FE79ADBBC4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111B253-80D1-D2F3-030D-B8F36B6DC3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1. Rappel</a:t>
            </a:r>
            <a:endParaRPr lang="fr-BE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4594BC48-FD61-1E5E-15DD-C79668574ED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Formulaire</a:t>
            </a:r>
            <a:endParaRPr lang="fr-BE" dirty="0"/>
          </a:p>
        </p:txBody>
      </p:sp>
    </p:spTree>
    <p:extLst>
      <p:ext uri="{BB962C8B-B14F-4D97-AF65-F5344CB8AC3E}">
        <p14:creationId xmlns:p14="http://schemas.microsoft.com/office/powerpoint/2010/main" val="278038690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3D2377E-AA3B-9A3F-096A-DA59A67074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dirty="0"/>
              <a:t>2. Contrôle de version - GIT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5598D70D-5FC4-71D2-5D93-650994100B2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BE" dirty="0"/>
              <a:t>Système de contrôle de version centralisé (VCS)</a:t>
            </a:r>
          </a:p>
          <a:p>
            <a:pPr lvl="1"/>
            <a:r>
              <a:rPr lang="fr-BE" dirty="0"/>
              <a:t>Un </a:t>
            </a:r>
            <a:r>
              <a:rPr lang="fr-BE" i="1" dirty="0"/>
              <a:t>Version Control System</a:t>
            </a:r>
            <a:r>
              <a:rPr lang="fr-BE" dirty="0"/>
              <a:t> permet d’enregistrer l’évolution d’un projet dans le temps.</a:t>
            </a:r>
          </a:p>
          <a:p>
            <a:pPr lvl="1"/>
            <a:r>
              <a:rPr lang="fr-BE" dirty="0"/>
              <a:t>Il garde une trace de chaque modification afin de pouvoir :</a:t>
            </a:r>
          </a:p>
          <a:p>
            <a:pPr lvl="2"/>
            <a:r>
              <a:rPr lang="fr-BE" dirty="0"/>
              <a:t>revenir en arrière,</a:t>
            </a:r>
          </a:p>
          <a:p>
            <a:pPr lvl="2"/>
            <a:r>
              <a:rPr lang="fr-BE" dirty="0"/>
              <a:t>comprendre qui a modifié quoi,</a:t>
            </a:r>
          </a:p>
          <a:p>
            <a:pPr lvl="2"/>
            <a:r>
              <a:rPr lang="fr-BE" dirty="0"/>
              <a:t>travailler à plusieurs sans perdre son travail.</a:t>
            </a:r>
          </a:p>
          <a:p>
            <a:endParaRPr lang="fr-BE" dirty="0"/>
          </a:p>
        </p:txBody>
      </p:sp>
    </p:spTree>
    <p:extLst>
      <p:ext uri="{BB962C8B-B14F-4D97-AF65-F5344CB8AC3E}">
        <p14:creationId xmlns:p14="http://schemas.microsoft.com/office/powerpoint/2010/main" val="172852798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1E58D6-2D36-21DC-7156-1159886C13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C2D2EDB-32FB-6713-1D4B-B4B79F5B54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dirty="0"/>
              <a:t>2. Contrôle de version - GIT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99A4982C-9507-5B53-EF3C-BE7739CA5E3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fr-BE" dirty="0"/>
              <a:t>VCS centralisé vs décentralisé</a:t>
            </a:r>
          </a:p>
          <a:p>
            <a:pPr lvl="1"/>
            <a:r>
              <a:rPr lang="fr-BE" dirty="0"/>
              <a:t>VCS Centralisé (ex : SVN)</a:t>
            </a:r>
          </a:p>
          <a:p>
            <a:pPr lvl="2"/>
            <a:r>
              <a:rPr lang="fr-BE" dirty="0"/>
              <a:t>Un </a:t>
            </a:r>
            <a:r>
              <a:rPr lang="fr-BE" b="1" dirty="0"/>
              <a:t>serveur central</a:t>
            </a:r>
            <a:r>
              <a:rPr lang="fr-BE" dirty="0"/>
              <a:t> contient le projet.</a:t>
            </a:r>
          </a:p>
          <a:p>
            <a:pPr lvl="2"/>
            <a:r>
              <a:rPr lang="fr-BE" dirty="0"/>
              <a:t>Les utilisateurs travaillent en se connectant à celui-ci.</a:t>
            </a:r>
          </a:p>
          <a:p>
            <a:pPr lvl="2"/>
            <a:r>
              <a:rPr lang="fr-BE" b="1" dirty="0"/>
              <a:t>Avantages :</a:t>
            </a:r>
            <a:endParaRPr lang="fr-BE" dirty="0"/>
          </a:p>
          <a:p>
            <a:pPr lvl="3"/>
            <a:r>
              <a:rPr lang="fr-BE" dirty="0"/>
              <a:t>Simple à comprendre.</a:t>
            </a:r>
          </a:p>
          <a:p>
            <a:pPr lvl="3"/>
            <a:r>
              <a:rPr lang="fr-BE" dirty="0"/>
              <a:t>Contrôle central.</a:t>
            </a:r>
          </a:p>
          <a:p>
            <a:pPr lvl="2"/>
            <a:r>
              <a:rPr lang="fr-BE" b="1" dirty="0"/>
              <a:t>Inconvénients :</a:t>
            </a:r>
            <a:endParaRPr lang="fr-BE" dirty="0"/>
          </a:p>
          <a:p>
            <a:pPr lvl="3"/>
            <a:r>
              <a:rPr lang="fr-BE" dirty="0"/>
              <a:t>Si le serveur tombe → impossible de travailler.</a:t>
            </a:r>
          </a:p>
          <a:p>
            <a:pPr lvl="3"/>
            <a:r>
              <a:rPr lang="fr-BE" dirty="0"/>
              <a:t>Faible flexibilité pour les branches.</a:t>
            </a:r>
          </a:p>
        </p:txBody>
      </p:sp>
    </p:spTree>
    <p:extLst>
      <p:ext uri="{BB962C8B-B14F-4D97-AF65-F5344CB8AC3E}">
        <p14:creationId xmlns:p14="http://schemas.microsoft.com/office/powerpoint/2010/main" val="278218635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C67153-092F-7DF4-19E4-77F2979CE3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42B61A2-698C-CDFB-4245-2D2FE95139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dirty="0"/>
              <a:t>2. Contrôle de version - GIT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51151FA0-A99C-1A53-25EB-B261E7B2499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fr-BE" dirty="0"/>
              <a:t>VCS centralisé vs décentralisé</a:t>
            </a:r>
            <a:endParaRPr lang="fr-BE" b="1" dirty="0"/>
          </a:p>
          <a:p>
            <a:pPr lvl="1"/>
            <a:r>
              <a:rPr lang="fr-BE" dirty="0"/>
              <a:t>VCS Décentralisé (ex : Git)</a:t>
            </a:r>
          </a:p>
          <a:p>
            <a:pPr lvl="2"/>
            <a:r>
              <a:rPr lang="fr-BE" dirty="0"/>
              <a:t>Chaque utilisateur possède </a:t>
            </a:r>
            <a:r>
              <a:rPr lang="fr-BE" b="1" dirty="0"/>
              <a:t>une copie complète du projet</a:t>
            </a:r>
            <a:r>
              <a:rPr lang="fr-BE" dirty="0"/>
              <a:t> (avec tout l’historique).</a:t>
            </a:r>
          </a:p>
          <a:p>
            <a:pPr lvl="1"/>
            <a:r>
              <a:rPr lang="fr-BE" b="1" dirty="0"/>
              <a:t>Avantages :</a:t>
            </a:r>
            <a:endParaRPr lang="fr-BE" dirty="0"/>
          </a:p>
          <a:p>
            <a:pPr lvl="2"/>
            <a:r>
              <a:rPr lang="fr-BE" dirty="0"/>
              <a:t>Travaille hors ligne.</a:t>
            </a:r>
          </a:p>
          <a:p>
            <a:pPr lvl="2"/>
            <a:r>
              <a:rPr lang="fr-BE" dirty="0"/>
              <a:t>Très rapide.</a:t>
            </a:r>
          </a:p>
          <a:p>
            <a:pPr lvl="2"/>
            <a:r>
              <a:rPr lang="fr-BE" dirty="0"/>
              <a:t>Branches légères et flexibles.</a:t>
            </a:r>
          </a:p>
          <a:p>
            <a:pPr lvl="2"/>
            <a:r>
              <a:rPr lang="fr-BE" dirty="0"/>
              <a:t>Plus sécurisé (copies multiples)</a:t>
            </a:r>
          </a:p>
          <a:p>
            <a:pPr lvl="1"/>
            <a:r>
              <a:rPr lang="fr-BE" b="1" dirty="0"/>
              <a:t>Inconvénients :</a:t>
            </a:r>
            <a:endParaRPr lang="fr-BE" dirty="0"/>
          </a:p>
          <a:p>
            <a:pPr lvl="2"/>
            <a:r>
              <a:rPr lang="fr-BE" dirty="0"/>
              <a:t>Complexe</a:t>
            </a:r>
          </a:p>
        </p:txBody>
      </p:sp>
    </p:spTree>
    <p:extLst>
      <p:ext uri="{BB962C8B-B14F-4D97-AF65-F5344CB8AC3E}">
        <p14:creationId xmlns:p14="http://schemas.microsoft.com/office/powerpoint/2010/main" val="122925231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BA9FB2-6879-81EB-616C-A3F9474B46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14A810B-8CBD-1D85-4939-1F9108C214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dirty="0"/>
              <a:t>2. Contrôle de version - GIT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966C90FC-6159-75F3-1928-936AD535660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fr-BE" dirty="0"/>
              <a:t>GIT</a:t>
            </a:r>
          </a:p>
          <a:p>
            <a:pPr lvl="1"/>
            <a:r>
              <a:rPr lang="fr-BE" dirty="0"/>
              <a:t>Historique</a:t>
            </a:r>
          </a:p>
          <a:p>
            <a:pPr lvl="2"/>
            <a:r>
              <a:rPr lang="fr-BE" dirty="0"/>
              <a:t>Créé par Linus </a:t>
            </a:r>
            <a:r>
              <a:rPr lang="fr-BE" dirty="0" err="1"/>
              <a:t>Torvalds</a:t>
            </a:r>
            <a:r>
              <a:rPr lang="fr-BE" dirty="0"/>
              <a:t> en 2005 (créateur de Linux)</a:t>
            </a:r>
          </a:p>
          <a:p>
            <a:pPr lvl="2"/>
            <a:r>
              <a:rPr lang="fr-BE" dirty="0"/>
              <a:t>Conçu pour être :</a:t>
            </a:r>
          </a:p>
          <a:p>
            <a:pPr lvl="3"/>
            <a:r>
              <a:rPr lang="fr-BE" dirty="0"/>
              <a:t>rapide</a:t>
            </a:r>
          </a:p>
          <a:p>
            <a:pPr lvl="3"/>
            <a:r>
              <a:rPr lang="fr-BE" dirty="0"/>
              <a:t>fiable</a:t>
            </a:r>
          </a:p>
          <a:p>
            <a:pPr lvl="3"/>
            <a:r>
              <a:rPr lang="fr-BE" dirty="0"/>
              <a:t>distribué</a:t>
            </a:r>
          </a:p>
          <a:p>
            <a:pPr lvl="3"/>
            <a:r>
              <a:rPr lang="fr-BE" dirty="0"/>
              <a:t>léger pour les branches et merges</a:t>
            </a:r>
          </a:p>
          <a:p>
            <a:pPr lvl="2"/>
            <a:r>
              <a:rPr lang="fr-BE" dirty="0"/>
              <a:t>Aujourd’hui utilisé par la majorité des projets open-source et entreprises.</a:t>
            </a:r>
          </a:p>
          <a:p>
            <a:pPr lvl="3"/>
            <a:r>
              <a:rPr lang="fr-BE" dirty="0"/>
              <a:t>96% des développeurs (</a:t>
            </a:r>
            <a:r>
              <a:rPr lang="fr-BE" dirty="0">
                <a:hlinkClick r:id="rId2"/>
              </a:rPr>
              <a:t>https://survey.stackoverflow.co/2022/#version-control-version-control-system-prof</a:t>
            </a:r>
            <a:r>
              <a:rPr lang="fr-BE" dirty="0"/>
              <a:t>) l’utilise</a:t>
            </a:r>
          </a:p>
          <a:p>
            <a:endParaRPr lang="fr-BE" dirty="0"/>
          </a:p>
        </p:txBody>
      </p:sp>
    </p:spTree>
    <p:extLst>
      <p:ext uri="{BB962C8B-B14F-4D97-AF65-F5344CB8AC3E}">
        <p14:creationId xmlns:p14="http://schemas.microsoft.com/office/powerpoint/2010/main" val="416420638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C9F596A-3726-C8E6-83C1-4720C5B926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dirty="0"/>
              <a:t>2. Contrôle de version - GIT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B76DE9E2-6B57-C6E4-7024-C4449F9F9D1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BE" dirty="0"/>
              <a:t>Rudiments - Ligne de commande (trop cool)</a:t>
            </a:r>
          </a:p>
          <a:p>
            <a:pPr lvl="1"/>
            <a:r>
              <a:rPr lang="fr-BE" b="1" dirty="0"/>
              <a:t>Pourquoi la ligne de commande ?</a:t>
            </a:r>
          </a:p>
          <a:p>
            <a:pPr lvl="2"/>
            <a:r>
              <a:rPr lang="fr-BE" dirty="0"/>
              <a:t>Plus rapide que les interfaces graphiques</a:t>
            </a:r>
          </a:p>
          <a:p>
            <a:pPr lvl="2"/>
            <a:r>
              <a:rPr lang="fr-BE" dirty="0"/>
              <a:t>Donne accès à </a:t>
            </a:r>
            <a:r>
              <a:rPr lang="fr-BE" b="1" dirty="0"/>
              <a:t>toutes</a:t>
            </a:r>
            <a:r>
              <a:rPr lang="fr-BE" dirty="0"/>
              <a:t> les fonctionnalités</a:t>
            </a:r>
          </a:p>
          <a:p>
            <a:pPr lvl="2"/>
            <a:r>
              <a:rPr lang="fr-BE" dirty="0"/>
              <a:t>Compréhension profonde de Git</a:t>
            </a:r>
          </a:p>
          <a:p>
            <a:pPr lvl="2"/>
            <a:r>
              <a:rPr lang="fr-BE" dirty="0"/>
              <a:t>Indispensable pour GitHub / </a:t>
            </a:r>
            <a:r>
              <a:rPr lang="fr-BE" dirty="0" err="1"/>
              <a:t>GitLab</a:t>
            </a:r>
            <a:r>
              <a:rPr lang="fr-BE" dirty="0"/>
              <a:t> / serveurs</a:t>
            </a:r>
          </a:p>
          <a:p>
            <a:endParaRPr lang="fr-BE" dirty="0"/>
          </a:p>
          <a:p>
            <a:endParaRPr lang="fr-BE" dirty="0"/>
          </a:p>
        </p:txBody>
      </p:sp>
    </p:spTree>
    <p:extLst>
      <p:ext uri="{BB962C8B-B14F-4D97-AF65-F5344CB8AC3E}">
        <p14:creationId xmlns:p14="http://schemas.microsoft.com/office/powerpoint/2010/main" val="385071821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13E069-0989-3B10-F363-CC54102A05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92BB9BE-590E-061E-9C39-5F96B7227C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dirty="0"/>
              <a:t>2. Contrôle de version - GIT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DDB22475-352D-73D9-93CD-061D4DF846B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BE" dirty="0"/>
              <a:t>Vocabulaire</a:t>
            </a:r>
          </a:p>
          <a:p>
            <a:pPr lvl="1"/>
            <a:endParaRPr lang="fr-BE" dirty="0"/>
          </a:p>
        </p:txBody>
      </p:sp>
      <p:graphicFrame>
        <p:nvGraphicFramePr>
          <p:cNvPr id="4" name="Tableau 3">
            <a:extLst>
              <a:ext uri="{FF2B5EF4-FFF2-40B4-BE49-F238E27FC236}">
                <a16:creationId xmlns:a16="http://schemas.microsoft.com/office/drawing/2014/main" id="{46BFA427-A3D5-23B5-D3C0-9A894938BAF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23064890"/>
              </p:ext>
            </p:extLst>
          </p:nvPr>
        </p:nvGraphicFramePr>
        <p:xfrm>
          <a:off x="2032000" y="2282995"/>
          <a:ext cx="8128000" cy="4414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3840403193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68011567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fr-FR" dirty="0"/>
                        <a:t>Mot </a:t>
                      </a:r>
                      <a:endParaRPr lang="fr-B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Définition 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6915164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fr-FR" dirty="0"/>
                        <a:t>Dépôt (repo)</a:t>
                      </a:r>
                      <a:endParaRPr lang="fr-B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Le dossier contenant le projet et tout son historique</a:t>
                      </a:r>
                      <a:endParaRPr lang="fr-B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5458057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fr-FR" dirty="0"/>
                        <a:t>Init</a:t>
                      </a:r>
                      <a:endParaRPr lang="fr-B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Crée un nouveau dépôt</a:t>
                      </a:r>
                      <a:endParaRPr lang="fr-B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42489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fr-FR" dirty="0" err="1"/>
                        <a:t>Add</a:t>
                      </a:r>
                      <a:endParaRPr lang="fr-B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Préparer les fichiers pour un commit</a:t>
                      </a:r>
                      <a:endParaRPr lang="fr-B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43838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fr-FR" dirty="0"/>
                        <a:t>Commit</a:t>
                      </a:r>
                      <a:endParaRPr lang="fr-B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Sauvegarde les modifications avec message</a:t>
                      </a:r>
                      <a:endParaRPr lang="fr-B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407927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fr-FR" dirty="0" err="1"/>
                        <a:t>Stash</a:t>
                      </a:r>
                      <a:endParaRPr lang="fr-B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Met de côté des modifications non </a:t>
                      </a:r>
                      <a:r>
                        <a:rPr lang="fr-FR" dirty="0" err="1"/>
                        <a:t>committées</a:t>
                      </a:r>
                      <a:endParaRPr lang="fr-B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3401153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fr-FR" dirty="0"/>
                        <a:t>Branch</a:t>
                      </a:r>
                      <a:endParaRPr lang="fr-B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Créer une ligne de développement parallèle</a:t>
                      </a:r>
                      <a:endParaRPr lang="fr-B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898672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fr-FR" dirty="0"/>
                        <a:t>Merge</a:t>
                      </a:r>
                      <a:endParaRPr lang="fr-B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Fusionne deux branches</a:t>
                      </a:r>
                      <a:endParaRPr lang="fr-B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6865859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fr-FR" dirty="0"/>
                        <a:t>Clone</a:t>
                      </a:r>
                      <a:endParaRPr lang="fr-B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Copie un dépôt distant</a:t>
                      </a:r>
                      <a:endParaRPr lang="fr-B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1983387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633972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B4500E-A4FD-FB5F-4FD7-B9ABBC41F0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2647F2F-E891-144D-A366-F8EB12B285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dirty="0"/>
              <a:t>2. Contrôle de version - GIT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15C53A75-BDED-C817-5D01-89869094ADB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fr-BE" dirty="0"/>
              <a:t>Les bases de GIT</a:t>
            </a:r>
          </a:p>
          <a:p>
            <a:pPr lvl="1"/>
            <a:r>
              <a:rPr lang="fr-BE" dirty="0"/>
              <a:t>Démarrer un dépôt</a:t>
            </a:r>
          </a:p>
          <a:p>
            <a:pPr lvl="2"/>
            <a:r>
              <a:rPr lang="fr-BE" dirty="0"/>
              <a:t>Git init</a:t>
            </a:r>
          </a:p>
          <a:p>
            <a:pPr lvl="3"/>
            <a:r>
              <a:rPr lang="fr-BE" dirty="0"/>
              <a:t>Ça crée un sous répertoire .git qui contient tous les fichiers nécessaires à la gestion du dépôt</a:t>
            </a:r>
          </a:p>
          <a:p>
            <a:pPr lvl="1"/>
            <a:r>
              <a:rPr lang="fr-BE" dirty="0"/>
              <a:t>Cloner un dépôt distant</a:t>
            </a:r>
          </a:p>
          <a:p>
            <a:pPr lvl="2"/>
            <a:r>
              <a:rPr lang="fr-BE" dirty="0"/>
              <a:t>Git clone &lt;url&gt; par ex : https://github.com/libgit2/libgit2</a:t>
            </a:r>
          </a:p>
          <a:p>
            <a:pPr lvl="3"/>
            <a:r>
              <a:rPr lang="fr-BE" dirty="0"/>
              <a:t>Ça crée un répertoire  libgit2, initialise un répertoire .git, récupère toutes les données du dépôt et extrait toutes les dernières données de ce dépôt.</a:t>
            </a:r>
          </a:p>
          <a:p>
            <a:pPr lvl="1"/>
            <a:r>
              <a:rPr lang="fr-BE" dirty="0"/>
              <a:t>Visualiser l’historique</a:t>
            </a:r>
          </a:p>
          <a:p>
            <a:pPr lvl="2"/>
            <a:r>
              <a:rPr lang="fr-BE" dirty="0"/>
              <a:t>Git log [--online –graph]</a:t>
            </a:r>
          </a:p>
          <a:p>
            <a:endParaRPr lang="fr-BE" dirty="0"/>
          </a:p>
        </p:txBody>
      </p:sp>
    </p:spTree>
    <p:extLst>
      <p:ext uri="{BB962C8B-B14F-4D97-AF65-F5344CB8AC3E}">
        <p14:creationId xmlns:p14="http://schemas.microsoft.com/office/powerpoint/2010/main" val="12068910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A558C7-9C9E-3CDC-A00B-E62D197D86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C1C6E8B-0F57-C2AF-2CEE-7EAB9AA7ED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dirty="0"/>
              <a:t>2. Contrôle de version - GIT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1908038D-84E5-2FF5-0EF6-8E8EA6577ED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fr-BE" dirty="0"/>
              <a:t>Les bases de GIT</a:t>
            </a:r>
          </a:p>
          <a:p>
            <a:pPr lvl="1"/>
            <a:r>
              <a:rPr lang="fr-BE" dirty="0"/>
              <a:t>Annuler des actions</a:t>
            </a:r>
          </a:p>
          <a:p>
            <a:pPr lvl="2"/>
            <a:r>
              <a:rPr lang="nb-NO" dirty="0"/>
              <a:t>git restore</a:t>
            </a:r>
          </a:p>
          <a:p>
            <a:pPr lvl="3"/>
            <a:r>
              <a:rPr lang="nb-NO" dirty="0"/>
              <a:t>Restaure les chemins spécifiés dans l’arbre avec certains contenus d’une source.</a:t>
            </a:r>
          </a:p>
          <a:p>
            <a:pPr lvl="2"/>
            <a:r>
              <a:rPr lang="nb-NO" dirty="0"/>
              <a:t>git reset</a:t>
            </a:r>
          </a:p>
          <a:p>
            <a:pPr lvl="3"/>
            <a:r>
              <a:rPr lang="nb-NO" dirty="0"/>
              <a:t>(1) copie les entrées d’un arbre vers l’index</a:t>
            </a:r>
          </a:p>
          <a:p>
            <a:pPr lvl="3"/>
            <a:r>
              <a:rPr lang="nb-NO" dirty="0"/>
              <a:t>(2) ramène la branche actuelle à un commit spécifique</a:t>
            </a:r>
          </a:p>
          <a:p>
            <a:pPr lvl="2"/>
            <a:r>
              <a:rPr lang="nb-NO" dirty="0"/>
              <a:t>git revert</a:t>
            </a:r>
          </a:p>
          <a:p>
            <a:pPr lvl="3"/>
            <a:r>
              <a:rPr lang="nb-NO" dirty="0"/>
              <a:t>Inverse l’ordre des modificationsque chaque commit introduit en enregistrant un nouveau commit</a:t>
            </a:r>
          </a:p>
          <a:p>
            <a:pPr lvl="1"/>
            <a:endParaRPr lang="fr-BE" dirty="0"/>
          </a:p>
          <a:p>
            <a:endParaRPr lang="fr-BE" dirty="0"/>
          </a:p>
        </p:txBody>
      </p:sp>
    </p:spTree>
    <p:extLst>
      <p:ext uri="{BB962C8B-B14F-4D97-AF65-F5344CB8AC3E}">
        <p14:creationId xmlns:p14="http://schemas.microsoft.com/office/powerpoint/2010/main" val="299887378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D39179-4684-58A1-8D4D-69CE69293A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6E363AF-C68F-8676-0FA5-D6D46AD51A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dirty="0"/>
              <a:t>2. Contrôle de version - GIT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73CC3D89-73EE-78CA-FADA-ABF7332DFB5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fr-BE" dirty="0"/>
              <a:t>Les bases de GIT</a:t>
            </a:r>
          </a:p>
          <a:p>
            <a:pPr lvl="1"/>
            <a:r>
              <a:rPr lang="fr-BE" dirty="0"/>
              <a:t>Dépôt distant (</a:t>
            </a:r>
            <a:r>
              <a:rPr lang="fr-BE" dirty="0" err="1"/>
              <a:t>remote</a:t>
            </a:r>
            <a:r>
              <a:rPr lang="fr-BE" dirty="0"/>
              <a:t>)</a:t>
            </a:r>
          </a:p>
          <a:p>
            <a:pPr lvl="2"/>
            <a:r>
              <a:rPr lang="fr-BE" dirty="0"/>
              <a:t>Connexion à un serveur distant</a:t>
            </a:r>
          </a:p>
          <a:p>
            <a:pPr lvl="3"/>
            <a:r>
              <a:rPr lang="fr-BE" dirty="0" err="1"/>
              <a:t>Github</a:t>
            </a:r>
            <a:endParaRPr lang="fr-BE" dirty="0"/>
          </a:p>
          <a:p>
            <a:pPr lvl="3"/>
            <a:r>
              <a:rPr lang="fr-BE" dirty="0" err="1"/>
              <a:t>Gitlab</a:t>
            </a:r>
            <a:r>
              <a:rPr lang="fr-BE" dirty="0"/>
              <a:t> </a:t>
            </a:r>
          </a:p>
          <a:p>
            <a:pPr lvl="2"/>
            <a:r>
              <a:rPr lang="fr-BE" dirty="0"/>
              <a:t>Les commandes</a:t>
            </a:r>
          </a:p>
          <a:p>
            <a:pPr lvl="3"/>
            <a:r>
              <a:rPr lang="fr-BE" dirty="0"/>
              <a:t>Git </a:t>
            </a:r>
            <a:r>
              <a:rPr lang="fr-BE" dirty="0" err="1"/>
              <a:t>fetch</a:t>
            </a:r>
            <a:endParaRPr lang="fr-BE" dirty="0"/>
          </a:p>
          <a:p>
            <a:pPr lvl="4"/>
            <a:r>
              <a:rPr lang="fr-BE" dirty="0"/>
              <a:t>Récupère les branches ou les tags depuis un ou plusieurs autres dépôts, ainsi que les objets nécessaire pour compléter leur historique.</a:t>
            </a:r>
          </a:p>
          <a:p>
            <a:pPr lvl="3"/>
            <a:r>
              <a:rPr lang="fr-BE" dirty="0"/>
              <a:t>Git pull</a:t>
            </a:r>
          </a:p>
          <a:p>
            <a:pPr lvl="4"/>
            <a:r>
              <a:rPr lang="fr-BE" dirty="0"/>
              <a:t>Incorpore les modifications d’un dépôt distant dans la branche courante. SI cette branche et le dépôt ont divergés, un conflit devra être potentiellement résolu.</a:t>
            </a:r>
          </a:p>
          <a:p>
            <a:pPr lvl="3"/>
            <a:r>
              <a:rPr lang="fr-BE" dirty="0"/>
              <a:t>Git push</a:t>
            </a:r>
          </a:p>
          <a:p>
            <a:pPr lvl="4"/>
            <a:r>
              <a:rPr lang="fr-BE" dirty="0"/>
              <a:t>Met à jour les références distantes à l’aide des références locales, tout en envoyant les objets nécessaires pour compléter les références données.</a:t>
            </a:r>
          </a:p>
        </p:txBody>
      </p:sp>
    </p:spTree>
    <p:extLst>
      <p:ext uri="{BB962C8B-B14F-4D97-AF65-F5344CB8AC3E}">
        <p14:creationId xmlns:p14="http://schemas.microsoft.com/office/powerpoint/2010/main" val="417552034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04FA27-694B-C6DB-3849-C46DED8CBE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994E26F-8488-3F0B-F3E5-A02466075C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dirty="0"/>
              <a:t>2. Contrôle de version - GIT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8AC06F7A-B38B-BECE-618E-A5769FD6216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fr-BE" dirty="0"/>
              <a:t>Les bases de GIT</a:t>
            </a:r>
          </a:p>
          <a:p>
            <a:pPr lvl="1"/>
            <a:r>
              <a:rPr lang="fr-BE" dirty="0"/>
              <a:t>Etiquette (tag)</a:t>
            </a:r>
          </a:p>
          <a:p>
            <a:pPr lvl="2"/>
            <a:r>
              <a:rPr lang="fr-BE" dirty="0"/>
              <a:t>Permet de marquer des versions stables ou des releases</a:t>
            </a:r>
          </a:p>
          <a:p>
            <a:pPr lvl="1"/>
            <a:r>
              <a:rPr lang="fr-BE" dirty="0"/>
              <a:t>Alias</a:t>
            </a:r>
          </a:p>
          <a:p>
            <a:pPr lvl="2"/>
            <a:r>
              <a:rPr lang="fr-BE" dirty="0"/>
              <a:t>Permet la création de commandes personnalisées au sein de la configuration du git installer</a:t>
            </a:r>
          </a:p>
          <a:p>
            <a:endParaRPr lang="fr-BE" dirty="0"/>
          </a:p>
        </p:txBody>
      </p:sp>
    </p:spTree>
    <p:extLst>
      <p:ext uri="{BB962C8B-B14F-4D97-AF65-F5344CB8AC3E}">
        <p14:creationId xmlns:p14="http://schemas.microsoft.com/office/powerpoint/2010/main" val="375883110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F65CA8B-2B78-511B-081F-1BA55C6E5A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dirty="0"/>
              <a:t>2. Contrôle de version - GIT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18A8B076-662D-E047-B33F-A933F2D81E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BE" dirty="0"/>
              <a:t>Les branches</a:t>
            </a:r>
          </a:p>
          <a:p>
            <a:pPr lvl="1"/>
            <a:r>
              <a:rPr lang="fr-BE" dirty="0"/>
              <a:t>Git commit</a:t>
            </a:r>
          </a:p>
          <a:p>
            <a:pPr lvl="1"/>
            <a:endParaRPr lang="fr-BE" dirty="0"/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E7049AC2-9AAF-49B1-B806-3CC6841AB52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58339" y="2109879"/>
            <a:ext cx="7795461" cy="43379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945026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D328BAD-34A1-09D7-42EF-128F374925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dirty="0"/>
              <a:t>2. Contrôle de version - GIT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B625DFCE-599B-F312-DBF1-2FBFCDCE96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fr-BE" dirty="0"/>
              <a:t>Le commit et son arbre	</a:t>
            </a:r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1FB1C405-1D31-465A-BAFC-BA7BB17772A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4868" y="2310816"/>
            <a:ext cx="7773485" cy="41820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608485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32044BE-64C2-3CF8-0E9B-F9071EDB1D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dirty="0"/>
              <a:t>2. Contrôle de version - GIT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7E5FAA93-9AD6-3B5B-0E37-07D29BC02BF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fr-BE" dirty="0"/>
              <a:t>Les branches</a:t>
            </a:r>
          </a:p>
          <a:p>
            <a:pPr lvl="1"/>
            <a:r>
              <a:rPr lang="fr-BE" dirty="0"/>
              <a:t>Git </a:t>
            </a:r>
            <a:r>
              <a:rPr lang="fr-BE" dirty="0" err="1"/>
              <a:t>branch</a:t>
            </a:r>
            <a:r>
              <a:rPr lang="fr-BE" dirty="0"/>
              <a:t> (ex : git </a:t>
            </a:r>
            <a:r>
              <a:rPr lang="fr-BE" dirty="0" err="1"/>
              <a:t>branch</a:t>
            </a:r>
            <a:r>
              <a:rPr lang="fr-BE" dirty="0"/>
              <a:t> </a:t>
            </a:r>
            <a:r>
              <a:rPr lang="fr-BE" dirty="0" err="1"/>
              <a:t>testing</a:t>
            </a:r>
            <a:r>
              <a:rPr lang="fr-BE" dirty="0"/>
              <a:t>)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352F9649-CDEC-4083-A08F-61EC6E8D7C7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48871" y="2643370"/>
            <a:ext cx="6604929" cy="36685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170400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32044BE-64C2-3CF8-0E9B-F9071EDB1D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dirty="0"/>
              <a:t>2. Contrôle de version - GIT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7E5FAA93-9AD6-3B5B-0E37-07D29BC02BF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fr-BE" dirty="0"/>
              <a:t>Les branches</a:t>
            </a:r>
          </a:p>
          <a:p>
            <a:pPr lvl="1"/>
            <a:r>
              <a:rPr lang="fr-BE" dirty="0"/>
              <a:t>Git </a:t>
            </a:r>
            <a:r>
              <a:rPr lang="fr-BE" dirty="0" err="1"/>
              <a:t>checkout</a:t>
            </a:r>
            <a:endParaRPr lang="fr-BE" dirty="0"/>
          </a:p>
        </p:txBody>
      </p:sp>
    </p:spTree>
    <p:extLst>
      <p:ext uri="{BB962C8B-B14F-4D97-AF65-F5344CB8AC3E}">
        <p14:creationId xmlns:p14="http://schemas.microsoft.com/office/powerpoint/2010/main" val="236330621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32044BE-64C2-3CF8-0E9B-F9071EDB1D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dirty="0"/>
              <a:t>2. Contrôle de version - GIT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7E5FAA93-9AD6-3B5B-0E37-07D29BC02BF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fr-BE" dirty="0"/>
              <a:t>Les branches</a:t>
            </a:r>
          </a:p>
          <a:p>
            <a:pPr lvl="1"/>
            <a:r>
              <a:rPr lang="fr-BE" dirty="0"/>
              <a:t>Git commit</a:t>
            </a:r>
          </a:p>
        </p:txBody>
      </p:sp>
    </p:spTree>
    <p:extLst>
      <p:ext uri="{BB962C8B-B14F-4D97-AF65-F5344CB8AC3E}">
        <p14:creationId xmlns:p14="http://schemas.microsoft.com/office/powerpoint/2010/main" val="416806652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32044BE-64C2-3CF8-0E9B-F9071EDB1D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dirty="0"/>
              <a:t>2. Contrôle de version - GIT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7E5FAA93-9AD6-3B5B-0E37-07D29BC02BF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fr-BE" dirty="0"/>
              <a:t>Les branches</a:t>
            </a:r>
          </a:p>
          <a:p>
            <a:pPr lvl="1"/>
            <a:r>
              <a:rPr lang="fr-BE" dirty="0"/>
              <a:t>Git log</a:t>
            </a:r>
          </a:p>
          <a:p>
            <a:endParaRPr lang="fr-BE" dirty="0"/>
          </a:p>
        </p:txBody>
      </p:sp>
    </p:spTree>
    <p:extLst>
      <p:ext uri="{BB962C8B-B14F-4D97-AF65-F5344CB8AC3E}">
        <p14:creationId xmlns:p14="http://schemas.microsoft.com/office/powerpoint/2010/main" val="252433434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2426C71-2E18-7D2F-D413-49F0574D7E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dirty="0"/>
              <a:t>2. Contrôle de version - GIT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9A316352-F52A-801C-3C7A-70C8B01EB79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BE" dirty="0"/>
              <a:t>Les branches et fusion</a:t>
            </a:r>
          </a:p>
          <a:p>
            <a:pPr lvl="1"/>
            <a:r>
              <a:rPr lang="fr-BE" dirty="0"/>
              <a:t>Git merge</a:t>
            </a:r>
          </a:p>
        </p:txBody>
      </p:sp>
    </p:spTree>
    <p:extLst>
      <p:ext uri="{BB962C8B-B14F-4D97-AF65-F5344CB8AC3E}">
        <p14:creationId xmlns:p14="http://schemas.microsoft.com/office/powerpoint/2010/main" val="380706800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2426C71-2E18-7D2F-D413-49F0574D7E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dirty="0"/>
              <a:t>2. Contrôle de version - GIT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9A316352-F52A-801C-3C7A-70C8B01EB79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BE" dirty="0"/>
              <a:t>Les branches et fusion</a:t>
            </a:r>
          </a:p>
          <a:p>
            <a:pPr lvl="1"/>
            <a:r>
              <a:rPr lang="fr-BE" dirty="0"/>
              <a:t>Git </a:t>
            </a:r>
            <a:r>
              <a:rPr lang="fr-BE" dirty="0" err="1"/>
              <a:t>opendiff</a:t>
            </a:r>
            <a:endParaRPr lang="fr-BE" dirty="0"/>
          </a:p>
        </p:txBody>
      </p:sp>
    </p:spTree>
    <p:extLst>
      <p:ext uri="{BB962C8B-B14F-4D97-AF65-F5344CB8AC3E}">
        <p14:creationId xmlns:p14="http://schemas.microsoft.com/office/powerpoint/2010/main" val="379315206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2426C71-2E18-7D2F-D413-49F0574D7E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dirty="0"/>
              <a:t>2. Contrôle de version - GIT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9A316352-F52A-801C-3C7A-70C8B01EB79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BE" dirty="0"/>
              <a:t>Les branches et fusion</a:t>
            </a:r>
          </a:p>
          <a:p>
            <a:pPr lvl="1"/>
            <a:r>
              <a:rPr lang="fr-BE" dirty="0"/>
              <a:t>Git push</a:t>
            </a:r>
          </a:p>
        </p:txBody>
      </p:sp>
    </p:spTree>
    <p:extLst>
      <p:ext uri="{BB962C8B-B14F-4D97-AF65-F5344CB8AC3E}">
        <p14:creationId xmlns:p14="http://schemas.microsoft.com/office/powerpoint/2010/main" val="42399659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2426C71-2E18-7D2F-D413-49F0574D7E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dirty="0"/>
              <a:t>2. Contrôle de version - GIT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9A316352-F52A-801C-3C7A-70C8B01EB79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BE" dirty="0"/>
              <a:t>Les branches et fusion</a:t>
            </a:r>
          </a:p>
          <a:p>
            <a:pPr lvl="1"/>
            <a:r>
              <a:rPr lang="fr-BE" dirty="0"/>
              <a:t>Git </a:t>
            </a:r>
            <a:r>
              <a:rPr lang="fr-BE" dirty="0" err="1"/>
              <a:t>fetch</a:t>
            </a:r>
            <a:endParaRPr lang="fr-BE" dirty="0"/>
          </a:p>
        </p:txBody>
      </p:sp>
    </p:spTree>
    <p:extLst>
      <p:ext uri="{BB962C8B-B14F-4D97-AF65-F5344CB8AC3E}">
        <p14:creationId xmlns:p14="http://schemas.microsoft.com/office/powerpoint/2010/main" val="159962908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2426C71-2E18-7D2F-D413-49F0574D7E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dirty="0"/>
              <a:t>2. Contrôle de version - GIT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9A316352-F52A-801C-3C7A-70C8B01EB79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BE" dirty="0"/>
              <a:t>Les branches et fusion</a:t>
            </a:r>
          </a:p>
          <a:p>
            <a:pPr lvl="1"/>
            <a:r>
              <a:rPr lang="fr-BE" dirty="0"/>
              <a:t>Git push</a:t>
            </a:r>
          </a:p>
        </p:txBody>
      </p:sp>
    </p:spTree>
    <p:extLst>
      <p:ext uri="{BB962C8B-B14F-4D97-AF65-F5344CB8AC3E}">
        <p14:creationId xmlns:p14="http://schemas.microsoft.com/office/powerpoint/2010/main" val="170361680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2426C71-2E18-7D2F-D413-49F0574D7E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dirty="0"/>
              <a:t>2. Contrôle de version - GIT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9A316352-F52A-801C-3C7A-70C8B01EB79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BE" dirty="0"/>
              <a:t>Les branches et fusion</a:t>
            </a:r>
          </a:p>
          <a:p>
            <a:pPr lvl="1"/>
            <a:r>
              <a:rPr lang="fr-BE" dirty="0"/>
              <a:t>Git rebase</a:t>
            </a:r>
          </a:p>
        </p:txBody>
      </p:sp>
    </p:spTree>
    <p:extLst>
      <p:ext uri="{BB962C8B-B14F-4D97-AF65-F5344CB8AC3E}">
        <p14:creationId xmlns:p14="http://schemas.microsoft.com/office/powerpoint/2010/main" val="89877830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3A96367-EDE5-14F8-5B05-A7FFE9ACA1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BEBDA8D6-3C56-AA39-9672-479CC75C17A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79915316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4C9EE1C-937B-4C1E-77D9-7D7E5CD96C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EB866E64-EDA6-7EF8-DC49-EAF399BB433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30132927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1D554A0-B6C6-8A4B-82F6-1AA1BF45CF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B7D2B228-2205-6947-EFD2-17EC30A0111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238582285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C44EFD1-0942-53AD-0922-D0AE187438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B2AC8E24-1FAD-9A1B-7C35-B5640EADC1F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63010237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7D7B06E-09C9-FB94-7662-04BD0C7D44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4C4EF745-F3DB-2FC0-6D9A-6F8183C84FA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1904480883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12E31F8-5A26-55D4-5460-EC37FE5975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67884C8C-0D98-103E-8A1E-A3868ED9D30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754691035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9C31C5F-10D6-FDC7-1170-4C9B18257C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E9B669AD-6422-11D7-57A0-F8E355A554A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3523135377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819C71D-0F99-EAE1-ED57-9562BCB051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2A2E788E-0CAE-51CC-8DF9-1C086F4B968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3748501652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EEE6356-8F2A-DCF1-AFB0-93EF1E5148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E06C70CB-5E65-F574-E830-627EB7BEAEC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3787226711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EC8A32C-F47D-5958-0C31-036AA76068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06D03DF7-3A3B-B4EB-981A-24C449DB0B7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3606623361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79BC76B-C7B4-8B34-0616-F827305607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2FD8B1E8-B003-D206-EF1C-F89F160580E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753411652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A7796DC-F3C3-09A1-03C7-285379C571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603A2061-CBBC-325D-BB40-F86622F6EE8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1580104069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875E28A-2A97-F038-0E9B-D823E045D0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2C8BB953-0D8E-92C8-9A11-85EA8D94CC5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3075839455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90972D6-F658-0CDA-7DE2-4FF8DF3322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7D349F6E-B64F-204C-4281-6BEE5493D36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3123736020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AFB00CE-C4F1-78B7-BF32-B5CBEC8901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60D2D573-60A3-BC73-A829-246E52EA01B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2273409557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2068A22-5C35-2ADC-C6BD-F77724C1F5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B5D110AC-3BA2-C8EB-2BE7-99BA8339E02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3408875528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0C98D17-C5E8-0F6C-A1AF-292E0D0494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951363E4-2568-7B4B-D91A-3763137A597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1462404812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4B52CD2-EB5A-4418-3F79-DD3129D252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8AF76F4F-946F-594B-98AF-858AF9327F5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552433639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3052B78-0552-FB9B-1B33-9C0536FF59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628CDA9E-150C-0B04-AE9A-C3EABA5F6A2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3951971659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6AF57E8-C999-D30C-09E4-4311263902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DBCC132B-4C59-DA4F-072B-59B9D2B4E3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598961588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970A576-1A4A-B300-6733-B6138FFC92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E1060295-9492-209A-A688-78E53E99BA5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2310192782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9AA1387-1590-A8B9-E858-9CFE05CB7C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C42280FA-41D0-6D04-3B55-E00A005963B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794721125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TM03457515[[fn=Vue]]</Template>
  <TotalTime>1144</TotalTime>
  <Words>1170</Words>
  <Application>Microsoft Office PowerPoint</Application>
  <PresentationFormat>Grand écran</PresentationFormat>
  <Paragraphs>225</Paragraphs>
  <Slides>53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53</vt:i4>
      </vt:variant>
    </vt:vector>
  </HeadingPairs>
  <TitlesOfParts>
    <vt:vector size="57" baseType="lpstr">
      <vt:lpstr>Aptos</vt:lpstr>
      <vt:lpstr>Aptos Display</vt:lpstr>
      <vt:lpstr>Arial</vt:lpstr>
      <vt:lpstr>Thème Office</vt:lpstr>
      <vt:lpstr>Module 1 – Programmation web Frontend</vt:lpstr>
      <vt:lpstr>Planning</vt:lpstr>
      <vt:lpstr>Source </vt:lpstr>
      <vt:lpstr>Chapitre 4</vt:lpstr>
      <vt:lpstr>Chapitre 4</vt:lpstr>
      <vt:lpstr>Chapitre 4</vt:lpstr>
      <vt:lpstr>Chapitre 4.</vt:lpstr>
      <vt:lpstr>1. Rappel</vt:lpstr>
      <vt:lpstr>1. Rappel</vt:lpstr>
      <vt:lpstr>2. Contrôle de version - GIT</vt:lpstr>
      <vt:lpstr>2. Contrôle de version - GIT</vt:lpstr>
      <vt:lpstr>2. Contrôle de version - GIT</vt:lpstr>
      <vt:lpstr>2. Contrôle de version - GIT</vt:lpstr>
      <vt:lpstr>2. Contrôle de version - GIT</vt:lpstr>
      <vt:lpstr>2. Contrôle de version - GIT</vt:lpstr>
      <vt:lpstr>2. Contrôle de version - GIT</vt:lpstr>
      <vt:lpstr>2. Contrôle de version - GIT</vt:lpstr>
      <vt:lpstr>2. Contrôle de version - GIT</vt:lpstr>
      <vt:lpstr>2. Contrôle de version - GIT</vt:lpstr>
      <vt:lpstr>2. Contrôle de version - GIT</vt:lpstr>
      <vt:lpstr>2. Contrôle de version - GIT</vt:lpstr>
      <vt:lpstr>2. Contrôle de version - GIT</vt:lpstr>
      <vt:lpstr>2. Contrôle de version - GIT</vt:lpstr>
      <vt:lpstr>2. Contrôle de version - GIT</vt:lpstr>
      <vt:lpstr>2. Contrôle de version - GIT</vt:lpstr>
      <vt:lpstr>2. Contrôle de version - GIT</vt:lpstr>
      <vt:lpstr>2. Contrôle de version - GIT</vt:lpstr>
      <vt:lpstr>2. Contrôle de version - GIT</vt:lpstr>
      <vt:lpstr>2. Contrôle de version - GIT</vt:lpstr>
      <vt:lpstr>2. Contrôle de version - GIT</vt:lpstr>
      <vt:lpstr>2. Contrôle de version - GIT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1 – Programmation web Frontend</dc:title>
  <dc:creator>joachim lejeune</dc:creator>
  <cp:lastModifiedBy>Joachim Lejeune</cp:lastModifiedBy>
  <cp:revision>10</cp:revision>
  <dcterms:created xsi:type="dcterms:W3CDTF">2025-11-13T18:11:15Z</dcterms:created>
  <dcterms:modified xsi:type="dcterms:W3CDTF">2025-11-19T12:13:40Z</dcterms:modified>
</cp:coreProperties>
</file>