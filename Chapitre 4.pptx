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9" r:id="rId4"/>
    <p:sldId id="258" r:id="rId5"/>
    <p:sldId id="259" r:id="rId6"/>
    <p:sldId id="260" r:id="rId7"/>
    <p:sldId id="294" r:id="rId8"/>
    <p:sldId id="261" r:id="rId9"/>
    <p:sldId id="290" r:id="rId10"/>
    <p:sldId id="262" r:id="rId11"/>
    <p:sldId id="295" r:id="rId12"/>
    <p:sldId id="296" r:id="rId13"/>
    <p:sldId id="291" r:id="rId14"/>
    <p:sldId id="297" r:id="rId15"/>
    <p:sldId id="292" r:id="rId16"/>
    <p:sldId id="293" r:id="rId17"/>
    <p:sldId id="299" r:id="rId18"/>
    <p:sldId id="298" r:id="rId19"/>
    <p:sldId id="300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EAE1B6-CBF1-72E6-E285-8F2439C93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CAA810-B9F5-5BFD-1B74-BDB9649C0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32AF9D-3B41-3C32-282E-AF0F9BB4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DD6C61-831E-8DBF-FB5E-8E9FB0DB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28817E-A4D2-CF8F-5119-781CDD6C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8583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AAC83E-24DF-3D10-6420-B54ED745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03AAE8-2C18-D6AB-DE26-18609B62E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D0AF56-9294-9A3B-21F9-2F4F5F12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B99F12-BC99-B5E1-2D5F-6320CDBF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1C633F-C1FA-6879-080B-5599FEC6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5082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DC908-9ECD-4221-FB80-DBA18FC0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0FDE2F-128F-30F1-E0C2-725851718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D804DA-3257-85B0-7F9C-1581E412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63428A-5E9E-989B-4594-E0A20AE7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BADA1A-C5F4-1304-2487-889702CD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6794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B9945F-724D-08B2-1044-AEDEAC2A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759D58-87F2-6B01-C0CA-2A6E88572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A2C92C4-BDEC-11E5-2A58-6D514066C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5A4EFE-B8E0-528F-629E-500BCEC8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183479-5165-FE85-B611-33FC964F9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96A768-ADC2-74C0-AD29-A50A3B12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0664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FA2124-AD99-2364-FCD4-41431E2C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9935FE-1740-24FA-8C3A-BE9E64D07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514B83-135E-C8E6-7F9A-441121249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287E2CC-90D7-A955-5466-E2C128567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8C4AD8-D1AC-954F-02FD-30F5EFBA2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AE25E1-F75B-A0C1-0AC8-0830F8FBA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CD9D6C-CA1D-8F5B-DB57-DA97DA28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5DE735-8304-DAAB-BB15-3C8342B8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62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B18717-2F4D-8C09-F532-091BA7BB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A731D7-858F-2353-5739-371D68CE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3841FC-0FC1-23D4-1F2B-F873F52D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9BAE45-801A-C820-EC5F-AF70B9DA9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4676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3A8E9BE-0A60-FAE4-7149-34D219DA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D6FF1AD-11BF-1241-6A2A-69AD3F85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6E50A6-186C-F7EA-A560-CBDD2682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5703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81491-8BFB-F859-555D-E9C63693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76469B-66C7-1918-0B48-245DE2984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CDB127-7156-E509-90F0-025706AF9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1B4D9C-7BAF-C028-8CC9-F9685A55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805585-FB5A-0732-3DA8-49EE94F0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072847-2B36-3714-D08E-48EFDFEF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664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1F788-53A2-9D47-A3D5-929A3CF5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39B037-53E0-7759-6FA7-591FF7554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4EC552-F7EB-5CFF-8F73-D1AED30EE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1070A7-4CEA-A578-3A62-E2CC3E3C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C28D09-F369-6B81-00EE-D02BB97A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222FB6-860B-FF9B-D232-788EAC96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5822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2F78EF-C8F8-0D72-B612-D2159644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7DE98E6-FCBD-8191-046C-2F57748CB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3204BD-9B30-1645-5115-D212AB0D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9A39E9-BF28-C4D5-5E49-3E0ED3A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490993-6793-102C-E8ED-A6CEEB36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721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DA2C1B6-234C-00AE-F34F-FB99ABD4F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B556BF-04A5-CC8E-4545-40EB38DD8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C2B640-3018-11E2-1C7B-C5262A889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3FDA21-5313-4B3E-1E16-7CD0EF6B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2D21DB-6674-2E6C-B27A-0185A677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5891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11C8A45-CA23-DD22-B695-D7143616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C5A705-218D-A172-9002-F0A0AF20B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9DE4ED-1897-2939-6A39-5ACF111D7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2A682-DD39-4819-89F0-642635859CB9}" type="datetimeFigureOut">
              <a:rPr lang="fr-BE" smtClean="0"/>
              <a:t>18-11-25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974111-0EE1-801D-3073-B6CCF9D4F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F8F5E6-A3DD-FFBC-5E97-A4AB8D015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7928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book/fr/v2/D&#233;marrage-rapide-&#192;-propos-de-la-gestion-de-vers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survey.stackoverflow.co/2022/#version-control-version-control-system-pro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D9817-AAD7-BA29-E49B-7408C5100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Module 1 – Programmation web Frontend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850D4C-AB8A-A34A-F5CF-E6E9CE852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082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8AEC00-E3FB-38E3-2A52-F95BCA13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Planning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6FD568-860B-6905-CD7B-EF0A605B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04/10/25 – Chapitre 1. Introduction web – fonctionnement, vocabulaire, prise en main des outils et Introduction au langage HTML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18/10/25 – Chapitre 2. Introduction web – HTML et CSS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8/11/25 – Chapitre 3. Introduction web – Arborescence et Formulaire</a:t>
            </a:r>
          </a:p>
          <a:p>
            <a:r>
              <a:rPr lang="fr-B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22/11/25 – Chapitre 4. Introduction Team Workflow - Git</a:t>
            </a:r>
          </a:p>
          <a:p>
            <a:r>
              <a:rPr lang="fr-BE" dirty="0"/>
              <a:t>06/12/25 – Chapitre 5. Introduction à Javascript, Variables et valeurs</a:t>
            </a:r>
          </a:p>
          <a:p>
            <a:r>
              <a:rPr lang="fr-BE" dirty="0"/>
              <a:t>10/01/26 – Chapitre 6. Javascript : Fonctions, tableaux, objets, prototypes et constructeurs</a:t>
            </a:r>
          </a:p>
          <a:p>
            <a:r>
              <a:rPr lang="fr-BE" dirty="0"/>
              <a:t>24/01/26 - Chapitre 7. Javascript : DOM et programmation évènementiel, expression régulière</a:t>
            </a:r>
          </a:p>
          <a:p>
            <a:r>
              <a:rPr lang="fr-BE" dirty="0"/>
              <a:t>07/02/26 - Chapitre 8. Javascript : Fonctions avancées et compléments</a:t>
            </a:r>
          </a:p>
          <a:p>
            <a:r>
              <a:rPr lang="fr-BE" dirty="0"/>
              <a:t>21/02/26 - Chapitre 9. Javascript : Framework (React.js, Angular.js et Vue.js)</a:t>
            </a:r>
          </a:p>
          <a:p>
            <a:r>
              <a:rPr lang="fr-BE" dirty="0"/>
              <a:t>14/03/26 -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 Chapitre 1.</a:t>
            </a:r>
          </a:p>
          <a:p>
            <a:r>
              <a:rPr lang="fr-BE" dirty="0"/>
              <a:t>11/04/26 –  Chapitre 2.</a:t>
            </a:r>
          </a:p>
          <a:p>
            <a:r>
              <a:rPr lang="fr-BE" dirty="0"/>
              <a:t>25/04/26 –  Chapitre 3.</a:t>
            </a:r>
          </a:p>
          <a:p>
            <a:r>
              <a:rPr lang="fr-BE" dirty="0"/>
              <a:t>23/05/26 - Examen 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9455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A3A2A-029F-545F-3CF2-42DB4337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Source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5A6A6D-2B71-21EB-DCF7-995F4FD8F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>
                <a:hlinkClick r:id="rId2"/>
              </a:rPr>
              <a:t>https://www.atlassian.com/fr/git/tutorials/setting-up-a-repository</a:t>
            </a:r>
          </a:p>
          <a:p>
            <a:r>
              <a:rPr lang="fr-BE" dirty="0">
                <a:hlinkClick r:id="rId2"/>
              </a:rPr>
              <a:t>https://git-scm.com/book/</a:t>
            </a:r>
            <a:r>
              <a:rPr lang="fr-BE" dirty="0" err="1">
                <a:hlinkClick r:id="rId2"/>
              </a:rPr>
              <a:t>fr</a:t>
            </a:r>
            <a:r>
              <a:rPr lang="fr-BE" dirty="0">
                <a:hlinkClick r:id="rId2"/>
              </a:rPr>
              <a:t>/v2/Démarrage-rapide-À-propos-de-la-gestion-de-version</a:t>
            </a:r>
            <a:r>
              <a:rPr lang="fr-B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238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B85159-528A-B0E6-095C-045A3B9A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90FF0C-29BA-9BB3-40F3-CFE09211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1. Rappel</a:t>
            </a:r>
          </a:p>
          <a:p>
            <a:pPr lvl="1"/>
            <a:r>
              <a:rPr lang="fr-BE" dirty="0"/>
              <a:t>Arborescence</a:t>
            </a:r>
          </a:p>
          <a:p>
            <a:pPr lvl="2"/>
            <a:r>
              <a:rPr lang="fr-BE" dirty="0"/>
              <a:t>L’arborescence HTML et CSS</a:t>
            </a:r>
          </a:p>
          <a:p>
            <a:pPr lvl="2"/>
            <a:r>
              <a:rPr lang="fr-BE" dirty="0"/>
              <a:t>Sélecteurs basés sur l’arborescence et sur les attributs</a:t>
            </a:r>
          </a:p>
          <a:p>
            <a:pPr lvl="2"/>
            <a:r>
              <a:rPr lang="fr-BE" dirty="0"/>
              <a:t>Pseudo-classes et pseudo-éléments CSS</a:t>
            </a:r>
          </a:p>
          <a:p>
            <a:pPr lvl="1"/>
            <a:r>
              <a:rPr lang="fr-BE" dirty="0"/>
              <a:t>Formulaire</a:t>
            </a:r>
          </a:p>
          <a:p>
            <a:pPr lvl="2"/>
            <a:r>
              <a:rPr lang="fr-BE" dirty="0"/>
              <a:t>Qu’est-ce qu’un formulaire HTML</a:t>
            </a:r>
          </a:p>
          <a:p>
            <a:pPr lvl="2"/>
            <a:r>
              <a:rPr lang="fr-BE" dirty="0"/>
              <a:t>Les actions</a:t>
            </a:r>
          </a:p>
          <a:p>
            <a:pPr lvl="2"/>
            <a:r>
              <a:rPr lang="fr-BE" dirty="0"/>
              <a:t>Protocoles GET et POST</a:t>
            </a:r>
          </a:p>
          <a:p>
            <a:pPr lvl="2"/>
            <a:r>
              <a:rPr lang="fr-BE" dirty="0"/>
              <a:t>Le formulaire dans son ensemble</a:t>
            </a:r>
          </a:p>
          <a:p>
            <a:pPr lvl="2"/>
            <a:r>
              <a:rPr lang="fr-BE" dirty="0"/>
              <a:t>Eléments types d’un formulaire</a:t>
            </a:r>
          </a:p>
          <a:p>
            <a:pPr lvl="2"/>
            <a:r>
              <a:rPr lang="fr-BE" dirty="0"/>
              <a:t>CSS</a:t>
            </a:r>
          </a:p>
          <a:p>
            <a:pPr lvl="2"/>
            <a:r>
              <a:rPr lang="fr-BE" dirty="0"/>
              <a:t>Contraintes et validations HTML</a:t>
            </a:r>
          </a:p>
          <a:p>
            <a:pPr lvl="2"/>
            <a:r>
              <a:rPr lang="fr-BE" dirty="0"/>
              <a:t>Sélecteurs CSS relatifs à la validation</a:t>
            </a:r>
          </a:p>
        </p:txBody>
      </p:sp>
    </p:spTree>
    <p:extLst>
      <p:ext uri="{BB962C8B-B14F-4D97-AF65-F5344CB8AC3E}">
        <p14:creationId xmlns:p14="http://schemas.microsoft.com/office/powerpoint/2010/main" val="228457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9BAE54-5F13-2073-8038-B8A1536B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4261F9-A2AD-2BEE-E0B4-AD08A7301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 dirty="0"/>
              <a:t>2. Contrôle de version - GIT</a:t>
            </a:r>
          </a:p>
          <a:p>
            <a:pPr lvl="1"/>
            <a:r>
              <a:rPr lang="fr-BE" dirty="0"/>
              <a:t>Système de contrôle de version centralisé (VCS)</a:t>
            </a:r>
          </a:p>
          <a:p>
            <a:pPr lvl="2"/>
            <a:r>
              <a:rPr lang="fr-BE" dirty="0"/>
              <a:t>Avantages</a:t>
            </a:r>
          </a:p>
          <a:p>
            <a:pPr lvl="2"/>
            <a:r>
              <a:rPr lang="fr-BE" dirty="0"/>
              <a:t>Inconvénients </a:t>
            </a:r>
          </a:p>
          <a:p>
            <a:pPr lvl="1"/>
            <a:r>
              <a:rPr lang="fr-BE" dirty="0"/>
              <a:t>GIT</a:t>
            </a:r>
          </a:p>
          <a:p>
            <a:pPr lvl="2"/>
            <a:r>
              <a:rPr lang="fr-BE" dirty="0"/>
              <a:t>Historique</a:t>
            </a:r>
          </a:p>
          <a:p>
            <a:pPr lvl="2"/>
            <a:r>
              <a:rPr lang="fr-BE" dirty="0"/>
              <a:t>Rudiments</a:t>
            </a:r>
          </a:p>
          <a:p>
            <a:pPr lvl="2"/>
            <a:r>
              <a:rPr lang="fr-BE" dirty="0"/>
              <a:t>Ligne de commande (trop cool)</a:t>
            </a:r>
          </a:p>
          <a:p>
            <a:pPr lvl="2"/>
            <a:endParaRPr lang="fr-BE" dirty="0"/>
          </a:p>
          <a:p>
            <a:pPr lvl="1"/>
            <a:r>
              <a:rPr lang="fr-BE" dirty="0"/>
              <a:t>Vocabulaire</a:t>
            </a:r>
          </a:p>
          <a:p>
            <a:pPr lvl="2"/>
            <a:r>
              <a:rPr lang="fr-BE" dirty="0"/>
              <a:t>Dépôt, init, </a:t>
            </a:r>
            <a:r>
              <a:rPr lang="fr-BE" dirty="0" err="1"/>
              <a:t>add</a:t>
            </a:r>
            <a:r>
              <a:rPr lang="fr-BE" dirty="0"/>
              <a:t>, </a:t>
            </a:r>
            <a:r>
              <a:rPr lang="fr-BE" dirty="0" err="1"/>
              <a:t>stash</a:t>
            </a:r>
            <a:r>
              <a:rPr lang="fr-BE" dirty="0"/>
              <a:t>,…</a:t>
            </a:r>
          </a:p>
          <a:p>
            <a:pPr lvl="1"/>
            <a:r>
              <a:rPr lang="fr-BE" dirty="0"/>
              <a:t>Les bases de GIT</a:t>
            </a:r>
          </a:p>
          <a:p>
            <a:pPr lvl="2"/>
            <a:r>
              <a:rPr lang="fr-BE" dirty="0"/>
              <a:t>Démarrer un dépôt</a:t>
            </a:r>
          </a:p>
          <a:p>
            <a:pPr lvl="2"/>
            <a:r>
              <a:rPr lang="fr-BE" dirty="0"/>
              <a:t>Visualiser l’historique</a:t>
            </a:r>
          </a:p>
          <a:p>
            <a:pPr lvl="2"/>
            <a:r>
              <a:rPr lang="fr-BE" dirty="0"/>
              <a:t>Annuler des actions</a:t>
            </a:r>
          </a:p>
          <a:p>
            <a:pPr lvl="2"/>
            <a:r>
              <a:rPr lang="fr-BE" dirty="0"/>
              <a:t>Dépôt distant</a:t>
            </a:r>
          </a:p>
          <a:p>
            <a:pPr lvl="2"/>
            <a:r>
              <a:rPr lang="fr-BE" dirty="0"/>
              <a:t>Etiquette (tag)</a:t>
            </a:r>
          </a:p>
          <a:p>
            <a:pPr lvl="2"/>
            <a:r>
              <a:rPr lang="fr-BE" dirty="0"/>
              <a:t>Alias</a:t>
            </a:r>
          </a:p>
          <a:p>
            <a:pPr lvl="1"/>
            <a:r>
              <a:rPr lang="fr-BE" dirty="0"/>
              <a:t>Les branches</a:t>
            </a:r>
          </a:p>
          <a:p>
            <a:pPr lvl="2"/>
            <a:endParaRPr lang="fr-BE" dirty="0"/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4501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C83120-E586-2C23-841B-557F7717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AF6E91-3493-84AC-E718-6194EDAAA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 dirty="0"/>
              <a:t>2. Contrôle de version - GIT</a:t>
            </a:r>
          </a:p>
          <a:p>
            <a:pPr lvl="1"/>
            <a:r>
              <a:rPr lang="fr-BE" dirty="0"/>
              <a:t>Le commit et son arbre</a:t>
            </a:r>
          </a:p>
          <a:p>
            <a:pPr lvl="1"/>
            <a:r>
              <a:rPr lang="fr-BE" dirty="0"/>
              <a:t>Les branches</a:t>
            </a:r>
          </a:p>
          <a:p>
            <a:pPr lvl="2"/>
            <a:r>
              <a:rPr lang="fr-BE" dirty="0"/>
              <a:t>Git </a:t>
            </a:r>
            <a:r>
              <a:rPr lang="fr-BE" dirty="0" err="1"/>
              <a:t>branch</a:t>
            </a:r>
            <a:endParaRPr lang="fr-BE" dirty="0"/>
          </a:p>
          <a:p>
            <a:pPr lvl="2"/>
            <a:r>
              <a:rPr lang="fr-BE" dirty="0"/>
              <a:t>Git </a:t>
            </a:r>
            <a:r>
              <a:rPr lang="fr-BE" dirty="0" err="1"/>
              <a:t>checkout</a:t>
            </a:r>
            <a:endParaRPr lang="fr-BE" dirty="0"/>
          </a:p>
          <a:p>
            <a:pPr lvl="2"/>
            <a:r>
              <a:rPr lang="fr-BE" dirty="0"/>
              <a:t>Git commit</a:t>
            </a:r>
          </a:p>
          <a:p>
            <a:pPr lvl="2"/>
            <a:r>
              <a:rPr lang="fr-BE" dirty="0"/>
              <a:t>Git log</a:t>
            </a:r>
          </a:p>
          <a:p>
            <a:pPr lvl="1"/>
            <a:r>
              <a:rPr lang="fr-BE" dirty="0"/>
              <a:t>Les branches et fusion</a:t>
            </a:r>
          </a:p>
          <a:p>
            <a:pPr lvl="2"/>
            <a:r>
              <a:rPr lang="fr-BE" dirty="0"/>
              <a:t>Git merge</a:t>
            </a:r>
          </a:p>
          <a:p>
            <a:pPr lvl="2"/>
            <a:r>
              <a:rPr lang="fr-BE" dirty="0"/>
              <a:t>Git </a:t>
            </a:r>
            <a:r>
              <a:rPr lang="fr-BE" dirty="0" err="1"/>
              <a:t>mergetool</a:t>
            </a:r>
            <a:r>
              <a:rPr lang="fr-BE" dirty="0"/>
              <a:t> / git </a:t>
            </a:r>
            <a:r>
              <a:rPr lang="fr-BE" dirty="0" err="1"/>
              <a:t>opendiff</a:t>
            </a:r>
            <a:endParaRPr lang="fr-BE" dirty="0"/>
          </a:p>
          <a:p>
            <a:pPr lvl="2"/>
            <a:r>
              <a:rPr lang="fr-BE" dirty="0"/>
              <a:t>Git push</a:t>
            </a:r>
          </a:p>
          <a:p>
            <a:pPr lvl="2"/>
            <a:r>
              <a:rPr lang="fr-BE" dirty="0"/>
              <a:t>Git </a:t>
            </a:r>
            <a:r>
              <a:rPr lang="fr-BE" dirty="0" err="1"/>
              <a:t>fetch</a:t>
            </a:r>
            <a:endParaRPr lang="fr-BE" dirty="0"/>
          </a:p>
          <a:p>
            <a:pPr lvl="2"/>
            <a:r>
              <a:rPr lang="fr-BE" dirty="0"/>
              <a:t>Git push</a:t>
            </a:r>
          </a:p>
          <a:p>
            <a:pPr lvl="2"/>
            <a:r>
              <a:rPr lang="fr-BE" dirty="0"/>
              <a:t>Git rebase</a:t>
            </a:r>
          </a:p>
          <a:p>
            <a:pPr lvl="1"/>
            <a:r>
              <a:rPr lang="fr-BE" dirty="0"/>
              <a:t>Les Protocoles</a:t>
            </a:r>
          </a:p>
          <a:p>
            <a:pPr lvl="2"/>
            <a:r>
              <a:rPr lang="fr-BE" dirty="0"/>
              <a:t>Local</a:t>
            </a:r>
          </a:p>
          <a:p>
            <a:pPr lvl="2"/>
            <a:r>
              <a:rPr lang="fr-BE" dirty="0"/>
              <a:t>http</a:t>
            </a:r>
          </a:p>
          <a:p>
            <a:pPr lvl="2"/>
            <a:r>
              <a:rPr lang="fr-BE" dirty="0"/>
              <a:t>SSH</a:t>
            </a:r>
          </a:p>
          <a:p>
            <a:pPr lvl="2"/>
            <a:r>
              <a:rPr lang="fr-BE" dirty="0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81200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C5786-F1E2-781C-6C7D-E25F0324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4.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8BFBC6-16DC-996B-8D36-DC4A7E42F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  <a:endParaRPr lang="fr-FR" dirty="0"/>
          </a:p>
          <a:p>
            <a:pPr lvl="1"/>
            <a:r>
              <a:rPr lang="fr-FR" dirty="0"/>
              <a:t>Contribuer à un projet</a:t>
            </a:r>
          </a:p>
          <a:p>
            <a:pPr lvl="2"/>
            <a:r>
              <a:rPr lang="fr-FR" dirty="0"/>
              <a:t>Fork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1814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C2CCFF-AE22-CA79-193C-DAE79498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7C5DBB-8184-AB61-AFA9-B19681940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Arborescence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90634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B1034-2F0F-4D6D-FC4A-FE79ADBBC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11B253-80D1-D2F3-030D-B8F36B6D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94BC48-FD61-1E5E-15DD-C79668574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Formulaire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80386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D2377E-AA3B-9A3F-096A-DA59A670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98D70D-5FC4-71D2-5D93-650994100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Système de contrôle de version centralisé (VCS)</a:t>
            </a:r>
          </a:p>
          <a:p>
            <a:pPr lvl="1"/>
            <a:r>
              <a:rPr lang="fr-BE" dirty="0"/>
              <a:t>Un </a:t>
            </a:r>
            <a:r>
              <a:rPr lang="fr-BE" i="1" dirty="0"/>
              <a:t>Version Control System</a:t>
            </a:r>
            <a:r>
              <a:rPr lang="fr-BE" dirty="0"/>
              <a:t> permet d’enregistrer l’évolution d’un projet dans le temps.</a:t>
            </a:r>
          </a:p>
          <a:p>
            <a:pPr lvl="1"/>
            <a:r>
              <a:rPr lang="fr-BE" dirty="0"/>
              <a:t>Il garde une trace de chaque modification afin de pouvoir :</a:t>
            </a:r>
          </a:p>
          <a:p>
            <a:pPr lvl="2"/>
            <a:r>
              <a:rPr lang="fr-BE" dirty="0"/>
              <a:t>revenir en arrière,</a:t>
            </a:r>
          </a:p>
          <a:p>
            <a:pPr lvl="2"/>
            <a:r>
              <a:rPr lang="fr-BE" dirty="0"/>
              <a:t>comprendre qui a modifié quoi,</a:t>
            </a:r>
          </a:p>
          <a:p>
            <a:pPr lvl="2"/>
            <a:r>
              <a:rPr lang="fr-BE" dirty="0"/>
              <a:t>travailler à plusieurs sans perdre son travail.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2852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E58D6-2D36-21DC-7156-1159886C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2D2EDB-32FB-6713-1D4B-B4B79F5B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A4982C-9507-5B53-EF3C-BE7739CA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VCS centralisé vs décentralisé</a:t>
            </a:r>
          </a:p>
          <a:p>
            <a:pPr lvl="1"/>
            <a:r>
              <a:rPr lang="fr-BE" dirty="0"/>
              <a:t>VCS Centralisé (ex : SVN)</a:t>
            </a:r>
          </a:p>
          <a:p>
            <a:pPr lvl="2"/>
            <a:r>
              <a:rPr lang="fr-BE" dirty="0"/>
              <a:t>Un </a:t>
            </a:r>
            <a:r>
              <a:rPr lang="fr-BE" b="1" dirty="0"/>
              <a:t>serveur central</a:t>
            </a:r>
            <a:r>
              <a:rPr lang="fr-BE" dirty="0"/>
              <a:t> contient le projet.</a:t>
            </a:r>
          </a:p>
          <a:p>
            <a:pPr lvl="2"/>
            <a:r>
              <a:rPr lang="fr-BE" dirty="0"/>
              <a:t>Les utilisateurs travaillent en se connectant à celui-ci.</a:t>
            </a:r>
          </a:p>
          <a:p>
            <a:pPr lvl="2"/>
            <a:r>
              <a:rPr lang="fr-BE" b="1" dirty="0"/>
              <a:t>Avantages :</a:t>
            </a:r>
            <a:endParaRPr lang="fr-BE" dirty="0"/>
          </a:p>
          <a:p>
            <a:pPr lvl="3"/>
            <a:r>
              <a:rPr lang="fr-BE" dirty="0"/>
              <a:t>Simple à comprendre.</a:t>
            </a:r>
          </a:p>
          <a:p>
            <a:pPr lvl="3"/>
            <a:r>
              <a:rPr lang="fr-BE" dirty="0"/>
              <a:t>Contrôle central.</a:t>
            </a:r>
          </a:p>
          <a:p>
            <a:pPr lvl="2"/>
            <a:r>
              <a:rPr lang="fr-BE" b="1" dirty="0"/>
              <a:t>Inconvénients :</a:t>
            </a:r>
            <a:endParaRPr lang="fr-BE" dirty="0"/>
          </a:p>
          <a:p>
            <a:pPr lvl="3"/>
            <a:r>
              <a:rPr lang="fr-BE" dirty="0"/>
              <a:t>Si le serveur tombe → impossible de travailler.</a:t>
            </a:r>
          </a:p>
          <a:p>
            <a:pPr lvl="3"/>
            <a:r>
              <a:rPr lang="fr-BE" dirty="0"/>
              <a:t>Faible flexibilité pour les branches.</a:t>
            </a:r>
          </a:p>
        </p:txBody>
      </p:sp>
    </p:spTree>
    <p:extLst>
      <p:ext uri="{BB962C8B-B14F-4D97-AF65-F5344CB8AC3E}">
        <p14:creationId xmlns:p14="http://schemas.microsoft.com/office/powerpoint/2010/main" val="2782186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7153-092F-7DF4-19E4-77F2979C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2B61A2-698C-CDFB-4245-2D2FE951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151FA0-A99C-1A53-25EB-B261E7B24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VCS centralisé vs décentralisé</a:t>
            </a:r>
            <a:endParaRPr lang="fr-BE" b="1" dirty="0"/>
          </a:p>
          <a:p>
            <a:pPr lvl="1"/>
            <a:r>
              <a:rPr lang="fr-BE" dirty="0"/>
              <a:t>VCS Décentralisé (ex : Git)</a:t>
            </a:r>
          </a:p>
          <a:p>
            <a:pPr lvl="2"/>
            <a:r>
              <a:rPr lang="fr-BE" dirty="0"/>
              <a:t>Chaque utilisateur possède </a:t>
            </a:r>
            <a:r>
              <a:rPr lang="fr-BE" b="1" dirty="0"/>
              <a:t>une copie complète du projet</a:t>
            </a:r>
            <a:r>
              <a:rPr lang="fr-BE" dirty="0"/>
              <a:t> (avec tout l’historique).</a:t>
            </a:r>
          </a:p>
          <a:p>
            <a:pPr lvl="1"/>
            <a:r>
              <a:rPr lang="fr-BE" b="1" dirty="0"/>
              <a:t>Avantages :</a:t>
            </a:r>
            <a:endParaRPr lang="fr-BE" dirty="0"/>
          </a:p>
          <a:p>
            <a:pPr lvl="2"/>
            <a:r>
              <a:rPr lang="fr-BE" dirty="0"/>
              <a:t>Travaille hors ligne.</a:t>
            </a:r>
          </a:p>
          <a:p>
            <a:pPr lvl="2"/>
            <a:r>
              <a:rPr lang="fr-BE" dirty="0"/>
              <a:t>Très rapide.</a:t>
            </a:r>
          </a:p>
          <a:p>
            <a:pPr lvl="2"/>
            <a:r>
              <a:rPr lang="fr-BE" dirty="0"/>
              <a:t>Branches légères et flexibles.</a:t>
            </a:r>
          </a:p>
          <a:p>
            <a:pPr lvl="2"/>
            <a:r>
              <a:rPr lang="fr-BE" dirty="0"/>
              <a:t>Plus sécurisé (copies multiples)</a:t>
            </a:r>
          </a:p>
          <a:p>
            <a:pPr lvl="1"/>
            <a:r>
              <a:rPr lang="fr-BE" b="1" dirty="0"/>
              <a:t>Inconvénients :</a:t>
            </a:r>
            <a:endParaRPr lang="fr-BE" dirty="0"/>
          </a:p>
          <a:p>
            <a:pPr lvl="2"/>
            <a:r>
              <a:rPr lang="fr-BE" dirty="0"/>
              <a:t>Complexe</a:t>
            </a:r>
          </a:p>
        </p:txBody>
      </p:sp>
    </p:spTree>
    <p:extLst>
      <p:ext uri="{BB962C8B-B14F-4D97-AF65-F5344CB8AC3E}">
        <p14:creationId xmlns:p14="http://schemas.microsoft.com/office/powerpoint/2010/main" val="122925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9FB2-6879-81EB-616C-A3F9474B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A810B-8CBD-1D85-4939-1F9108C2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6C90FC-6159-75F3-1928-936AD5356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GIT</a:t>
            </a:r>
          </a:p>
          <a:p>
            <a:pPr lvl="1"/>
            <a:r>
              <a:rPr lang="fr-BE" dirty="0"/>
              <a:t>Historique</a:t>
            </a:r>
          </a:p>
          <a:p>
            <a:pPr lvl="2"/>
            <a:r>
              <a:rPr lang="fr-BE" dirty="0"/>
              <a:t>Créé par Linus </a:t>
            </a:r>
            <a:r>
              <a:rPr lang="fr-BE" dirty="0" err="1"/>
              <a:t>Torvalds</a:t>
            </a:r>
            <a:r>
              <a:rPr lang="fr-BE" dirty="0"/>
              <a:t> en 2005 (créateur de Linux)</a:t>
            </a:r>
          </a:p>
          <a:p>
            <a:pPr lvl="2"/>
            <a:r>
              <a:rPr lang="fr-BE" dirty="0"/>
              <a:t>Conçu pour être :</a:t>
            </a:r>
          </a:p>
          <a:p>
            <a:pPr lvl="3"/>
            <a:r>
              <a:rPr lang="fr-BE" dirty="0"/>
              <a:t>rapide</a:t>
            </a:r>
          </a:p>
          <a:p>
            <a:pPr lvl="3"/>
            <a:r>
              <a:rPr lang="fr-BE" dirty="0"/>
              <a:t>fiable</a:t>
            </a:r>
          </a:p>
          <a:p>
            <a:pPr lvl="3"/>
            <a:r>
              <a:rPr lang="fr-BE" dirty="0"/>
              <a:t>distribué</a:t>
            </a:r>
          </a:p>
          <a:p>
            <a:pPr lvl="3"/>
            <a:r>
              <a:rPr lang="fr-BE" dirty="0"/>
              <a:t>léger pour les branches et merges</a:t>
            </a:r>
          </a:p>
          <a:p>
            <a:pPr lvl="2"/>
            <a:r>
              <a:rPr lang="fr-BE" dirty="0"/>
              <a:t>Aujourd’hui utilisé par la majorité des projets open-source et entreprises.</a:t>
            </a:r>
          </a:p>
          <a:p>
            <a:pPr lvl="3"/>
            <a:r>
              <a:rPr lang="fr-BE" dirty="0"/>
              <a:t>96% des développeurs (</a:t>
            </a:r>
            <a:r>
              <a:rPr lang="fr-BE" dirty="0">
                <a:hlinkClick r:id="rId2"/>
              </a:rPr>
              <a:t>https://survey.stackoverflow.co/2022/#version-control-version-control-system-prof</a:t>
            </a:r>
            <a:r>
              <a:rPr lang="fr-BE" dirty="0"/>
              <a:t>) l’utilise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64206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F596A-3726-C8E6-83C1-4720C5B9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6DE9E2-6B57-C6E4-7024-C4449F9F9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Rudiments - Ligne de commande (trop cool)</a:t>
            </a:r>
          </a:p>
          <a:p>
            <a:pPr lvl="1"/>
            <a:r>
              <a:rPr lang="fr-BE" b="1" dirty="0"/>
              <a:t>Pourquoi la ligne de commande ?</a:t>
            </a:r>
          </a:p>
          <a:p>
            <a:pPr lvl="2"/>
            <a:r>
              <a:rPr lang="fr-BE" dirty="0"/>
              <a:t>Plus rapide que les interfaces graphiques</a:t>
            </a:r>
          </a:p>
          <a:p>
            <a:pPr lvl="2"/>
            <a:r>
              <a:rPr lang="fr-BE" dirty="0"/>
              <a:t>Donne accès à </a:t>
            </a:r>
            <a:r>
              <a:rPr lang="fr-BE" b="1" dirty="0"/>
              <a:t>toutes</a:t>
            </a:r>
            <a:r>
              <a:rPr lang="fr-BE" dirty="0"/>
              <a:t> les fonctionnalités</a:t>
            </a:r>
          </a:p>
          <a:p>
            <a:pPr lvl="2"/>
            <a:r>
              <a:rPr lang="fr-BE" dirty="0"/>
              <a:t>Compréhension profonde de Git</a:t>
            </a:r>
          </a:p>
          <a:p>
            <a:pPr lvl="2"/>
            <a:r>
              <a:rPr lang="fr-BE" dirty="0"/>
              <a:t>Indispensable pour GitHub / </a:t>
            </a:r>
            <a:r>
              <a:rPr lang="fr-BE" dirty="0" err="1"/>
              <a:t>GitLab</a:t>
            </a:r>
            <a:r>
              <a:rPr lang="fr-BE" dirty="0"/>
              <a:t> / serveurs</a:t>
            </a:r>
          </a:p>
          <a:p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50718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E069-0989-3B10-F363-CC54102A0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2BB9BE-590E-061E-9C39-5F96B722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B22475-352D-73D9-93CD-061D4DF84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Vocabulaire</a:t>
            </a:r>
          </a:p>
          <a:p>
            <a:pPr lvl="1"/>
            <a:endParaRPr lang="fr-BE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6BFA427-A3D5-23B5-D3C0-9A894938B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064890"/>
              </p:ext>
            </p:extLst>
          </p:nvPr>
        </p:nvGraphicFramePr>
        <p:xfrm>
          <a:off x="2032000" y="2282995"/>
          <a:ext cx="8128000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4040319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801156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Mot 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Définition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15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Dépôt (repo)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Le dossier contenant le projet et tout son historique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580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Init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 un nouveau dépôt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48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Add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Préparer les fichiers pour un commit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Commit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Sauvegarde les modifications avec message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792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Stash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Met de côté des modifications non </a:t>
                      </a:r>
                      <a:r>
                        <a:rPr lang="fr-FR" dirty="0" err="1"/>
                        <a:t>committées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01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Branch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une ligne de développement parallèle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867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Merge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Fusionne deux branches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65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Clone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Copie un dépôt distant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833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39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500E-A4FD-FB5F-4FD7-B9ABBC41F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47F2F-E891-144D-A366-F8EB12B2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C53A75-BDED-C817-5D01-89869094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bases de GIT</a:t>
            </a:r>
          </a:p>
          <a:p>
            <a:pPr lvl="1"/>
            <a:r>
              <a:rPr lang="fr-BE" dirty="0"/>
              <a:t>Démarrer un dépôt</a:t>
            </a:r>
          </a:p>
          <a:p>
            <a:pPr lvl="2"/>
            <a:r>
              <a:rPr lang="fr-BE" dirty="0"/>
              <a:t>Git init</a:t>
            </a:r>
          </a:p>
          <a:p>
            <a:pPr lvl="3"/>
            <a:r>
              <a:rPr lang="fr-BE" dirty="0"/>
              <a:t>Ça crée un sous répertoire .git qui contient tous les fichiers nécessaires à la gestion du dépôt</a:t>
            </a:r>
          </a:p>
          <a:p>
            <a:pPr lvl="1"/>
            <a:r>
              <a:rPr lang="fr-BE" dirty="0"/>
              <a:t>Cloner un dépôt distant</a:t>
            </a:r>
          </a:p>
          <a:p>
            <a:pPr lvl="2"/>
            <a:r>
              <a:rPr lang="fr-BE" dirty="0"/>
              <a:t>Git clone &lt;url&gt; par ex : https://github.com/libgit2/libgit2</a:t>
            </a:r>
          </a:p>
          <a:p>
            <a:pPr lvl="3"/>
            <a:r>
              <a:rPr lang="fr-BE" dirty="0"/>
              <a:t>Ça crée un répertoire  libgit2, initialise un répertoire .git, récupère toutes les données du dépôt et extrait toutes les dernières données de ce dépôt.</a:t>
            </a:r>
          </a:p>
          <a:p>
            <a:pPr lvl="1"/>
            <a:r>
              <a:rPr lang="fr-BE" dirty="0"/>
              <a:t>Visualiser l’historique</a:t>
            </a:r>
          </a:p>
          <a:p>
            <a:pPr lvl="2"/>
            <a:r>
              <a:rPr lang="fr-BE" dirty="0"/>
              <a:t>Git log [--online –graph]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0689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58C7-9C9E-3CDC-A00B-E62D197D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C6E8B-0F57-C2AF-2CEE-7EAB9AA7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08038D-84E5-2FF5-0EF6-8E8EA657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bases de GIT</a:t>
            </a:r>
          </a:p>
          <a:p>
            <a:pPr lvl="1"/>
            <a:r>
              <a:rPr lang="fr-BE" dirty="0"/>
              <a:t>Annuler des actions</a:t>
            </a:r>
          </a:p>
          <a:p>
            <a:pPr lvl="2"/>
            <a:r>
              <a:rPr lang="nb-NO" dirty="0"/>
              <a:t>git restore</a:t>
            </a:r>
          </a:p>
          <a:p>
            <a:pPr lvl="3"/>
            <a:r>
              <a:rPr lang="nb-NO" dirty="0"/>
              <a:t>Restaure les chemins spécifiés dans l’arbre avec certains contenus d’une source.</a:t>
            </a:r>
          </a:p>
          <a:p>
            <a:pPr lvl="2"/>
            <a:r>
              <a:rPr lang="nb-NO" dirty="0"/>
              <a:t>git reset</a:t>
            </a:r>
          </a:p>
          <a:p>
            <a:pPr lvl="3"/>
            <a:r>
              <a:rPr lang="nb-NO" dirty="0"/>
              <a:t>(1) copie les entrées d’un arbre vers l’index</a:t>
            </a:r>
          </a:p>
          <a:p>
            <a:pPr lvl="3"/>
            <a:r>
              <a:rPr lang="nb-NO" dirty="0"/>
              <a:t>(2) ramène la branche actuelle à un commit spécifique</a:t>
            </a:r>
          </a:p>
          <a:p>
            <a:pPr lvl="2"/>
            <a:r>
              <a:rPr lang="nb-NO" dirty="0"/>
              <a:t>git revert</a:t>
            </a:r>
          </a:p>
          <a:p>
            <a:pPr lvl="3"/>
            <a:r>
              <a:rPr lang="nb-NO" dirty="0"/>
              <a:t>Inverse l’ordre des modificationsque chaque commit introduit en enregistrant un nouveau commit</a:t>
            </a:r>
          </a:p>
          <a:p>
            <a:pPr lvl="1"/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98873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9179-4684-58A1-8D4D-69CE6929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E363AF-C68F-8676-0FA5-D6D46AD51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C3D89-73EE-78CA-FADA-ABF7332DF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Les bases de GIT</a:t>
            </a:r>
          </a:p>
          <a:p>
            <a:pPr lvl="1"/>
            <a:r>
              <a:rPr lang="fr-BE" dirty="0"/>
              <a:t>Dépôt distant (</a:t>
            </a:r>
            <a:r>
              <a:rPr lang="fr-BE" dirty="0" err="1"/>
              <a:t>remote</a:t>
            </a:r>
            <a:r>
              <a:rPr lang="fr-BE" dirty="0"/>
              <a:t>)</a:t>
            </a:r>
          </a:p>
          <a:p>
            <a:pPr lvl="2"/>
            <a:r>
              <a:rPr lang="fr-BE" dirty="0"/>
              <a:t>Connexion à un serveur distant</a:t>
            </a:r>
          </a:p>
          <a:p>
            <a:pPr lvl="3"/>
            <a:r>
              <a:rPr lang="fr-BE" dirty="0" err="1"/>
              <a:t>Github</a:t>
            </a:r>
            <a:endParaRPr lang="fr-BE" dirty="0"/>
          </a:p>
          <a:p>
            <a:pPr lvl="3"/>
            <a:r>
              <a:rPr lang="fr-BE" dirty="0" err="1"/>
              <a:t>Gitlab</a:t>
            </a:r>
            <a:r>
              <a:rPr lang="fr-BE" dirty="0"/>
              <a:t> </a:t>
            </a:r>
          </a:p>
          <a:p>
            <a:pPr lvl="2"/>
            <a:r>
              <a:rPr lang="fr-BE" dirty="0"/>
              <a:t>Les commandes</a:t>
            </a:r>
          </a:p>
          <a:p>
            <a:pPr lvl="3"/>
            <a:r>
              <a:rPr lang="fr-BE" dirty="0"/>
              <a:t>Git </a:t>
            </a:r>
            <a:r>
              <a:rPr lang="fr-BE" dirty="0" err="1"/>
              <a:t>fetch</a:t>
            </a:r>
            <a:endParaRPr lang="fr-BE" dirty="0"/>
          </a:p>
          <a:p>
            <a:pPr lvl="4"/>
            <a:r>
              <a:rPr lang="fr-BE" dirty="0"/>
              <a:t>Récupère les branches ou les tags depuis un ou plusieurs autres dépôts, ainsi que les objets nécessaire pour compléter leur historique.</a:t>
            </a:r>
          </a:p>
          <a:p>
            <a:pPr lvl="3"/>
            <a:r>
              <a:rPr lang="fr-BE" dirty="0"/>
              <a:t>Git pull</a:t>
            </a:r>
          </a:p>
          <a:p>
            <a:pPr lvl="4"/>
            <a:r>
              <a:rPr lang="fr-BE" dirty="0"/>
              <a:t>Incorpore les modifications d’un dépôt distant dans la branche courante. SI cette branche et le dépôt ont divergés, un conflit devra être potentiellement résolu.</a:t>
            </a:r>
          </a:p>
          <a:p>
            <a:pPr lvl="3"/>
            <a:r>
              <a:rPr lang="fr-BE" dirty="0"/>
              <a:t>Git push</a:t>
            </a:r>
          </a:p>
          <a:p>
            <a:pPr lvl="4"/>
            <a:r>
              <a:rPr lang="fr-BE" dirty="0"/>
              <a:t>Met à jour les références distantes à l’aide des références locales, tout en envoyant les objets nécessaires pour compléter les références données.</a:t>
            </a:r>
          </a:p>
        </p:txBody>
      </p:sp>
    </p:spTree>
    <p:extLst>
      <p:ext uri="{BB962C8B-B14F-4D97-AF65-F5344CB8AC3E}">
        <p14:creationId xmlns:p14="http://schemas.microsoft.com/office/powerpoint/2010/main" val="4175520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4FA27-694B-C6DB-3849-C46DED8C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94E26F-8488-3F0B-F3E5-A02466075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C06F7A-B38B-BECE-618E-A5769FD6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bases de GIT</a:t>
            </a:r>
          </a:p>
          <a:p>
            <a:pPr lvl="1"/>
            <a:r>
              <a:rPr lang="fr-BE" dirty="0"/>
              <a:t>Etiquette (tag)</a:t>
            </a:r>
          </a:p>
          <a:p>
            <a:pPr lvl="2"/>
            <a:r>
              <a:rPr lang="fr-BE" dirty="0"/>
              <a:t>Permet de marquer des versions stables ou des releases</a:t>
            </a:r>
          </a:p>
          <a:p>
            <a:pPr lvl="1"/>
            <a:r>
              <a:rPr lang="fr-BE" dirty="0"/>
              <a:t>Alias</a:t>
            </a:r>
          </a:p>
          <a:p>
            <a:pPr lvl="2"/>
            <a:r>
              <a:rPr lang="fr-BE" dirty="0"/>
              <a:t>Permet la création de commandes personnalisées au sein de la configuration du git installer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58831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65CA8B-2B78-511B-081F-1BA55C6E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A8B076-662D-E047-B33F-A933F2D81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79450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328BAD-34A1-09D7-42EF-128F3749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25DFCE-599B-F312-DBF1-2FBFCDCE9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 commit et son arbre	</a:t>
            </a:r>
          </a:p>
        </p:txBody>
      </p:sp>
    </p:spTree>
    <p:extLst>
      <p:ext uri="{BB962C8B-B14F-4D97-AF65-F5344CB8AC3E}">
        <p14:creationId xmlns:p14="http://schemas.microsoft.com/office/powerpoint/2010/main" val="1076084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2044BE-64C2-3CF8-0E9B-F9071EDB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5FAA93-9AD6-3B5B-0E37-07D29BC0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branches</a:t>
            </a:r>
          </a:p>
          <a:p>
            <a:pPr lvl="1"/>
            <a:r>
              <a:rPr lang="fr-BE" dirty="0"/>
              <a:t>Git </a:t>
            </a:r>
            <a:r>
              <a:rPr lang="fr-BE" dirty="0" err="1"/>
              <a:t>branch</a:t>
            </a:r>
            <a:endParaRPr lang="fr-BE" dirty="0"/>
          </a:p>
          <a:p>
            <a:pPr lvl="1"/>
            <a:r>
              <a:rPr lang="fr-BE" dirty="0"/>
              <a:t>Git </a:t>
            </a:r>
            <a:r>
              <a:rPr lang="fr-BE" dirty="0" err="1"/>
              <a:t>checkout</a:t>
            </a:r>
            <a:endParaRPr lang="fr-BE" dirty="0"/>
          </a:p>
          <a:p>
            <a:pPr lvl="1"/>
            <a:r>
              <a:rPr lang="fr-BE" dirty="0"/>
              <a:t>Git commit</a:t>
            </a:r>
          </a:p>
          <a:p>
            <a:pPr lvl="1"/>
            <a:r>
              <a:rPr lang="fr-BE" dirty="0"/>
              <a:t>Git log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56031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26C71-2E18-7D2F-D413-49F0574D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316352-F52A-801C-3C7A-70C8B01E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merge</a:t>
            </a:r>
          </a:p>
          <a:p>
            <a:pPr lvl="1"/>
            <a:r>
              <a:rPr lang="fr-BE" dirty="0"/>
              <a:t>Git </a:t>
            </a:r>
            <a:r>
              <a:rPr lang="fr-BE" dirty="0" err="1"/>
              <a:t>mergetool</a:t>
            </a:r>
            <a:r>
              <a:rPr lang="fr-BE" dirty="0"/>
              <a:t> / git </a:t>
            </a:r>
            <a:r>
              <a:rPr lang="fr-BE" dirty="0" err="1"/>
              <a:t>opendiff</a:t>
            </a:r>
            <a:endParaRPr lang="fr-BE" dirty="0"/>
          </a:p>
          <a:p>
            <a:pPr lvl="1"/>
            <a:r>
              <a:rPr lang="fr-BE" dirty="0"/>
              <a:t>Git push</a:t>
            </a:r>
          </a:p>
          <a:p>
            <a:pPr lvl="1"/>
            <a:r>
              <a:rPr lang="fr-BE" dirty="0"/>
              <a:t>Git </a:t>
            </a:r>
            <a:r>
              <a:rPr lang="fr-BE" dirty="0" err="1"/>
              <a:t>fetch</a:t>
            </a:r>
            <a:endParaRPr lang="fr-BE" dirty="0"/>
          </a:p>
          <a:p>
            <a:pPr lvl="1"/>
            <a:r>
              <a:rPr lang="fr-BE" dirty="0"/>
              <a:t>Git push</a:t>
            </a:r>
          </a:p>
          <a:p>
            <a:pPr lvl="1"/>
            <a:r>
              <a:rPr lang="fr-BE" dirty="0"/>
              <a:t>Git rebase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07068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96367-EDE5-14F8-5B05-A7FFE9AC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BDA8D6-3C56-AA39-9672-479CC75C1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99153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9EE1C-937B-4C1E-77D9-7D7E5CD96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866E64-EDA6-7EF8-DC49-EAF399BB4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1329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D554A0-B6C6-8A4B-82F6-1AA1BF45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D2B228-2205-6947-EFD2-17EC30A01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85822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44EFD1-0942-53AD-0922-D0AE1874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AC8E24-1FAD-9A1B-7C35-B5640EADC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0102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D7B06E-09C9-FB94-7662-04BD0C7D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4EF745-F3DB-2FC0-6D9A-6F8183C84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04480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2E31F8-5A26-55D4-5460-EC37FE59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884C8C-0D98-103E-8A1E-A3868ED9D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4691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C31C5F-10D6-FDC7-1170-4C9B1825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B669AD-6422-11D7-57A0-F8E355A55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23135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19C71D-0F99-EAE1-ED57-9562BCB0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2E788E-0CAE-51CC-8DF9-1C086F4B9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48501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E6356-8F2A-DCF1-AFB0-93EF1E514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6C70CB-5E65-F574-E830-627EB7BEA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7226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C8A32C-F47D-5958-0C31-036AA760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D03DF7-3A3B-B4EB-981A-24C449DB0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06623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9BC76B-C7B4-8B34-0616-F82730560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D8B1E8-B003-D206-EF1C-F89F16058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3411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7796DC-F3C3-09A1-03C7-285379C5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3A2061-CBBC-325D-BB40-F86622F6E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80104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75E28A-2A97-F038-0E9B-D823E045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8BB953-0D8E-92C8-9A11-85EA8D94C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75839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972D6-F658-0CDA-7DE2-4FF8DF332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349F6E-B64F-204C-4281-6BEE5493D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23736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FB00CE-C4F1-78B7-BF32-B5CBEC89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D2D573-60A3-BC73-A829-246E52EA0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73409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68A22-5C35-2ADC-C6BD-F77724C1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D110AC-3BA2-C8EB-2BE7-99BA8339E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8875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C98D17-C5E8-0F6C-A1AF-292E0D04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1363E4-2568-7B4B-D91A-3763137A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624048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52CD2-EB5A-4418-3F79-DD3129D2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F76F4F-946F-594B-98AF-858AF9327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2433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052B78-0552-FB9B-1B33-9C0536FF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8CDA9E-150C-0B04-AE9A-C3EABA5F6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519716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F57E8-C999-D30C-09E4-43112639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CC132B-4C59-DA4F-072B-59B9D2B4E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98961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70A576-1A4A-B300-6733-B6138FFC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060295-9492-209A-A688-78E53E99B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101927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AA1387-1590-A8B9-E858-9CFE05CB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2280FA-41D0-6D04-3B55-E00A00596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947211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TM03457515[[fn=Vue]]</Template>
  <TotalTime>1104</TotalTime>
  <Words>1082</Words>
  <Application>Microsoft Office PowerPoint</Application>
  <PresentationFormat>Grand écran</PresentationFormat>
  <Paragraphs>208</Paragraphs>
  <Slides>45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Thème Office</vt:lpstr>
      <vt:lpstr>Module 1 – Programmation web Frontend</vt:lpstr>
      <vt:lpstr>Planning</vt:lpstr>
      <vt:lpstr>Source </vt:lpstr>
      <vt:lpstr>Chapitre 4</vt:lpstr>
      <vt:lpstr>Chapitre 4</vt:lpstr>
      <vt:lpstr>Chapitre 4</vt:lpstr>
      <vt:lpstr>Chapitre 4.</vt:lpstr>
      <vt:lpstr>1. Rappel</vt:lpstr>
      <vt:lpstr>1. Rappel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lejeune</dc:creator>
  <cp:lastModifiedBy>joachim lejeune</cp:lastModifiedBy>
  <cp:revision>8</cp:revision>
  <dcterms:created xsi:type="dcterms:W3CDTF">2025-11-13T18:11:15Z</dcterms:created>
  <dcterms:modified xsi:type="dcterms:W3CDTF">2025-11-18T18:48:11Z</dcterms:modified>
</cp:coreProperties>
</file>